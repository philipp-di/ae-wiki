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Fraunces Extra Bold"/>
      <p:regular r:id="rId17"/>
    </p:embeddedFont>
    <p:embeddedFont>
      <p:font typeface="Fraunces Extra Bold"/>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DFEEE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D1E7D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DFEEE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D1E7D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DFEEE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37197"/>
            <a:ext cx="7556421" cy="2126337"/>
          </a:xfrm>
          <a:prstGeom prst="rect">
            <a:avLst/>
          </a:prstGeom>
          <a:noFill/>
          <a:ln/>
        </p:spPr>
        <p:txBody>
          <a:bodyPr wrap="square" lIns="0" tIns="0" rIns="0" bIns="0" rtlCol="0" anchor="t"/>
          <a:lstStyle/>
          <a:p>
            <a:pPr algn="ctr"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Die Welt der Arbeit: Sicherung, Entwicklung und Gestaltung</a:t>
            </a:r>
            <a:endParaRPr lang="en-US" sz="4450" dirty="0"/>
          </a:p>
        </p:txBody>
      </p:sp>
      <p:sp>
        <p:nvSpPr>
          <p:cNvPr id="4" name="Text 1"/>
          <p:cNvSpPr/>
          <p:nvPr/>
        </p:nvSpPr>
        <p:spPr>
          <a:xfrm>
            <a:off x="6280190" y="4803696"/>
            <a:ext cx="7556421" cy="1088708"/>
          </a:xfrm>
          <a:prstGeom prst="rect">
            <a:avLst/>
          </a:prstGeom>
          <a:noFill/>
          <a:ln/>
        </p:spPr>
        <p:txBody>
          <a:bodyPr wrap="square" lIns="0" tIns="0" rIns="0" bIns="0" rtlCol="0" anchor="t"/>
          <a:lstStyle/>
          <a:p>
            <a:pPr algn="ctr" indent="0" marL="0">
              <a:lnSpc>
                <a:spcPts val="2850"/>
              </a:lnSpc>
              <a:buNone/>
            </a:pPr>
            <a:r>
              <a:rPr lang="en-US" sz="1750" dirty="0">
                <a:solidFill>
                  <a:srgbClr val="405449"/>
                </a:solidFill>
                <a:latin typeface="Nobile" pitchFamily="34" charset="0"/>
                <a:ea typeface="Nobile" pitchFamily="34" charset="-122"/>
                <a:cs typeface="Nobile" pitchFamily="34" charset="-120"/>
              </a:rPr>
              <a:t>Entdecken Sie die wesentlichen Säulen, die Ihr Berufsleben in Deutschland prägen: von der sozialen Absicherung über lebenslanges Lernen bis hin zur dynamischen Arbeitsplatzgestaltung.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302306"/>
            <a:ext cx="7556421" cy="2126337"/>
          </a:xfrm>
          <a:prstGeom prst="rect">
            <a:avLst/>
          </a:prstGeom>
          <a:noFill/>
          <a:ln/>
        </p:spPr>
        <p:txBody>
          <a:bodyPr wrap="square" lIns="0" tIns="0" rIns="0" bIns="0" rtlCol="0" anchor="t"/>
          <a:lstStyle/>
          <a:p>
            <a:pPr algn="ctr"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Soziale Sicherung: Ein Fundament für Ihre Zukunft</a:t>
            </a:r>
            <a:endParaRPr lang="en-US" sz="4450" dirty="0"/>
          </a:p>
        </p:txBody>
      </p:sp>
      <p:sp>
        <p:nvSpPr>
          <p:cNvPr id="4" name="Text 1"/>
          <p:cNvSpPr/>
          <p:nvPr/>
        </p:nvSpPr>
        <p:spPr>
          <a:xfrm>
            <a:off x="6280190" y="376880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Sobald man anfängt zu arbeiten, ist man automatisch in der Sozialversicherung drin. Das ist ein Gemeinschaftstopf, in den man und sein Arbeitgeber Geld einzahlen. Wenn dir etwas passiert, bekommst du daraus Unterstützung.</a:t>
            </a:r>
            <a:endParaRPr lang="en-US" sz="1750" dirty="0"/>
          </a:p>
        </p:txBody>
      </p:sp>
      <p:sp>
        <p:nvSpPr>
          <p:cNvPr id="5" name="Text 2"/>
          <p:cNvSpPr/>
          <p:nvPr/>
        </p:nvSpPr>
        <p:spPr>
          <a:xfrm>
            <a:off x="6280190" y="54755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Dieses System bietet ein Sicherheitsnetz, das Sie vor den finanziellen Folgen von Krankheit, Arbeitslosigkeit, Pflegebedürftigkeit oder dem Alter schützt. Es ist ein Ausdruck gesellschaftlicher Solidarität und ein wichtiger Bestandteil des deutschen Sozialstaats.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213967" y="732830"/>
            <a:ext cx="10202347" cy="640556"/>
          </a:xfrm>
          <a:prstGeom prst="rect">
            <a:avLst/>
          </a:prstGeom>
          <a:noFill/>
          <a:ln/>
        </p:spPr>
        <p:txBody>
          <a:bodyPr wrap="none" lIns="0" tIns="0" rIns="0" bIns="0" rtlCol="0" anchor="t"/>
          <a:lstStyle/>
          <a:p>
            <a:pPr algn="ctr" indent="0" marL="0">
              <a:lnSpc>
                <a:spcPts val="5000"/>
              </a:lnSpc>
              <a:buNone/>
            </a:pPr>
            <a:r>
              <a:rPr lang="en-US" sz="4000" b="1" dirty="0">
                <a:solidFill>
                  <a:srgbClr val="3B4540"/>
                </a:solidFill>
                <a:latin typeface="Fraunces Extra Bold" pitchFamily="34" charset="0"/>
                <a:ea typeface="Fraunces Extra Bold" pitchFamily="34" charset="-122"/>
                <a:cs typeface="Fraunces Extra Bold" pitchFamily="34" charset="-120"/>
              </a:rPr>
              <a:t>Die Fünf Säulen der Sozialversicherung</a:t>
            </a:r>
            <a:endParaRPr lang="en-US" sz="4000" dirty="0"/>
          </a:p>
        </p:txBody>
      </p:sp>
      <p:sp>
        <p:nvSpPr>
          <p:cNvPr id="3" name="Text 1"/>
          <p:cNvSpPr/>
          <p:nvPr/>
        </p:nvSpPr>
        <p:spPr>
          <a:xfrm>
            <a:off x="717471" y="1783318"/>
            <a:ext cx="13195459" cy="656034"/>
          </a:xfrm>
          <a:prstGeom prst="rect">
            <a:avLst/>
          </a:prstGeom>
          <a:noFill/>
          <a:ln/>
        </p:spPr>
        <p:txBody>
          <a:bodyPr wrap="square" lIns="0" tIns="0" rIns="0" bIns="0" rtlCol="0" anchor="t"/>
          <a:lstStyle/>
          <a:p>
            <a:pPr algn="ctr" indent="0" marL="0">
              <a:lnSpc>
                <a:spcPts val="2550"/>
              </a:lnSpc>
              <a:buNone/>
            </a:pPr>
            <a:r>
              <a:rPr lang="en-US" sz="1600" dirty="0">
                <a:solidFill>
                  <a:srgbClr val="405449"/>
                </a:solidFill>
                <a:latin typeface="Nobile" pitchFamily="34" charset="0"/>
                <a:ea typeface="Nobile" pitchFamily="34" charset="-122"/>
                <a:cs typeface="Nobile" pitchFamily="34" charset="-120"/>
              </a:rPr>
              <a:t>Die soziale Sicherung in Deutschland basiert auf fünf tragenden Säulen, die umfassenden Schutz in verschiedenen Lebensbereichen bieten.</a:t>
            </a:r>
            <a:endParaRPr lang="en-US" sz="1600" dirty="0"/>
          </a:p>
        </p:txBody>
      </p:sp>
      <p:sp>
        <p:nvSpPr>
          <p:cNvPr id="4" name="Shape 2"/>
          <p:cNvSpPr/>
          <p:nvPr/>
        </p:nvSpPr>
        <p:spPr>
          <a:xfrm>
            <a:off x="717471" y="2977396"/>
            <a:ext cx="4261842" cy="2167533"/>
          </a:xfrm>
          <a:prstGeom prst="roundRect">
            <a:avLst>
              <a:gd name="adj" fmla="val 5062"/>
            </a:avLst>
          </a:prstGeom>
          <a:solidFill>
            <a:srgbClr val="D1E7D2"/>
          </a:solidFill>
          <a:ln/>
        </p:spPr>
      </p:sp>
      <p:sp>
        <p:nvSpPr>
          <p:cNvPr id="5" name="Shape 3"/>
          <p:cNvSpPr/>
          <p:nvPr/>
        </p:nvSpPr>
        <p:spPr>
          <a:xfrm>
            <a:off x="717471" y="2954536"/>
            <a:ext cx="4261842" cy="91440"/>
          </a:xfrm>
          <a:prstGeom prst="roundRect">
            <a:avLst>
              <a:gd name="adj" fmla="val 201771"/>
            </a:avLst>
          </a:prstGeom>
          <a:solidFill>
            <a:srgbClr val="438951"/>
          </a:solidFill>
          <a:ln/>
        </p:spPr>
      </p:sp>
      <p:sp>
        <p:nvSpPr>
          <p:cNvPr id="6" name="Shape 4"/>
          <p:cNvSpPr/>
          <p:nvPr/>
        </p:nvSpPr>
        <p:spPr>
          <a:xfrm>
            <a:off x="2540853" y="2669977"/>
            <a:ext cx="614958" cy="614958"/>
          </a:xfrm>
          <a:prstGeom prst="roundRect">
            <a:avLst>
              <a:gd name="adj" fmla="val 148693"/>
            </a:avLst>
          </a:prstGeom>
          <a:solidFill>
            <a:srgbClr val="438951"/>
          </a:solidFill>
          <a:ln/>
        </p:spPr>
      </p:sp>
      <p:pic>
        <p:nvPicPr>
          <p:cNvPr id="7" name="Image 0" descr="preencoded.png">    </p:cNvPr>
          <p:cNvPicPr>
            <a:picLocks noChangeAspect="1"/>
          </p:cNvPicPr>
          <p:nvPr/>
        </p:nvPicPr>
        <p:blipFill>
          <a:blip r:embed="rId1"/>
          <a:stretch>
            <a:fillRect/>
          </a:stretch>
        </p:blipFill>
        <p:spPr>
          <a:xfrm>
            <a:off x="2725281" y="2823686"/>
            <a:ext cx="245983" cy="307419"/>
          </a:xfrm>
          <a:prstGeom prst="rect">
            <a:avLst/>
          </a:prstGeom>
        </p:spPr>
      </p:pic>
      <p:sp>
        <p:nvSpPr>
          <p:cNvPr id="8" name="Text 5"/>
          <p:cNvSpPr/>
          <p:nvPr/>
        </p:nvSpPr>
        <p:spPr>
          <a:xfrm>
            <a:off x="945237" y="3489841"/>
            <a:ext cx="2876788" cy="320278"/>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Krankenversicherung</a:t>
            </a:r>
            <a:endParaRPr lang="en-US" sz="2000" dirty="0"/>
          </a:p>
        </p:txBody>
      </p:sp>
      <p:sp>
        <p:nvSpPr>
          <p:cNvPr id="9" name="Text 6"/>
          <p:cNvSpPr/>
          <p:nvPr/>
        </p:nvSpPr>
        <p:spPr>
          <a:xfrm>
            <a:off x="945237" y="3933111"/>
            <a:ext cx="3806309" cy="656034"/>
          </a:xfrm>
          <a:prstGeom prst="rect">
            <a:avLst/>
          </a:prstGeom>
          <a:noFill/>
          <a:ln/>
        </p:spPr>
        <p:txBody>
          <a:bodyPr wrap="square" lIns="0" tIns="0" rIns="0" bIns="0" rtlCol="0" anchor="t"/>
          <a:lstStyle/>
          <a:p>
            <a:pPr algn="l" indent="0" marL="0">
              <a:lnSpc>
                <a:spcPts val="2550"/>
              </a:lnSpc>
              <a:buNone/>
            </a:pPr>
            <a:r>
              <a:rPr lang="en-US" sz="1600" dirty="0">
                <a:solidFill>
                  <a:srgbClr val="405449"/>
                </a:solidFill>
                <a:latin typeface="Nobile" pitchFamily="34" charset="0"/>
                <a:ea typeface="Nobile" pitchFamily="34" charset="-122"/>
                <a:cs typeface="Nobile" pitchFamily="34" charset="-120"/>
              </a:rPr>
              <a:t>Für Arztkosten, Medikamente und auch Krankenhausaufenthalte.</a:t>
            </a:r>
            <a:endParaRPr lang="en-US" sz="1600" dirty="0"/>
          </a:p>
        </p:txBody>
      </p:sp>
      <p:sp>
        <p:nvSpPr>
          <p:cNvPr id="10" name="Shape 7"/>
          <p:cNvSpPr/>
          <p:nvPr/>
        </p:nvSpPr>
        <p:spPr>
          <a:xfrm>
            <a:off x="5184219" y="2977396"/>
            <a:ext cx="4261842" cy="2167533"/>
          </a:xfrm>
          <a:prstGeom prst="roundRect">
            <a:avLst>
              <a:gd name="adj" fmla="val 5062"/>
            </a:avLst>
          </a:prstGeom>
          <a:solidFill>
            <a:srgbClr val="D1E7D2"/>
          </a:solidFill>
          <a:ln/>
        </p:spPr>
      </p:sp>
      <p:sp>
        <p:nvSpPr>
          <p:cNvPr id="11" name="Shape 8"/>
          <p:cNvSpPr/>
          <p:nvPr/>
        </p:nvSpPr>
        <p:spPr>
          <a:xfrm>
            <a:off x="5184219" y="2954536"/>
            <a:ext cx="4261842" cy="91440"/>
          </a:xfrm>
          <a:prstGeom prst="roundRect">
            <a:avLst>
              <a:gd name="adj" fmla="val 201771"/>
            </a:avLst>
          </a:prstGeom>
          <a:solidFill>
            <a:srgbClr val="438951"/>
          </a:solidFill>
          <a:ln/>
        </p:spPr>
      </p:sp>
      <p:sp>
        <p:nvSpPr>
          <p:cNvPr id="12" name="Shape 9"/>
          <p:cNvSpPr/>
          <p:nvPr/>
        </p:nvSpPr>
        <p:spPr>
          <a:xfrm>
            <a:off x="7007602" y="2669977"/>
            <a:ext cx="614958" cy="614958"/>
          </a:xfrm>
          <a:prstGeom prst="roundRect">
            <a:avLst>
              <a:gd name="adj" fmla="val 148693"/>
            </a:avLst>
          </a:prstGeom>
          <a:solidFill>
            <a:srgbClr val="438951"/>
          </a:solidFill>
          <a:ln/>
        </p:spPr>
      </p:sp>
      <p:pic>
        <p:nvPicPr>
          <p:cNvPr id="13" name="Image 1" descr="preencoded.png">    </p:cNvPr>
          <p:cNvPicPr>
            <a:picLocks noChangeAspect="1"/>
          </p:cNvPicPr>
          <p:nvPr/>
        </p:nvPicPr>
        <p:blipFill>
          <a:blip r:embed="rId2"/>
          <a:stretch>
            <a:fillRect/>
          </a:stretch>
        </p:blipFill>
        <p:spPr>
          <a:xfrm>
            <a:off x="7192030" y="2823686"/>
            <a:ext cx="245983" cy="307419"/>
          </a:xfrm>
          <a:prstGeom prst="rect">
            <a:avLst/>
          </a:prstGeom>
        </p:spPr>
      </p:pic>
      <p:sp>
        <p:nvSpPr>
          <p:cNvPr id="14" name="Text 10"/>
          <p:cNvSpPr/>
          <p:nvPr/>
        </p:nvSpPr>
        <p:spPr>
          <a:xfrm>
            <a:off x="5411986" y="3489841"/>
            <a:ext cx="2562463" cy="320278"/>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Pflegeversicherung</a:t>
            </a:r>
            <a:endParaRPr lang="en-US" sz="2000" dirty="0"/>
          </a:p>
        </p:txBody>
      </p:sp>
      <p:sp>
        <p:nvSpPr>
          <p:cNvPr id="15" name="Text 11"/>
          <p:cNvSpPr/>
          <p:nvPr/>
        </p:nvSpPr>
        <p:spPr>
          <a:xfrm>
            <a:off x="5411986" y="3933111"/>
            <a:ext cx="3806309" cy="984052"/>
          </a:xfrm>
          <a:prstGeom prst="rect">
            <a:avLst/>
          </a:prstGeom>
          <a:noFill/>
          <a:ln/>
        </p:spPr>
        <p:txBody>
          <a:bodyPr wrap="square" lIns="0" tIns="0" rIns="0" bIns="0" rtlCol="0" anchor="t"/>
          <a:lstStyle/>
          <a:p>
            <a:pPr algn="l" indent="0" marL="0">
              <a:lnSpc>
                <a:spcPts val="2550"/>
              </a:lnSpc>
              <a:buNone/>
            </a:pPr>
            <a:r>
              <a:rPr lang="en-US" sz="1600" dirty="0">
                <a:solidFill>
                  <a:srgbClr val="405449"/>
                </a:solidFill>
                <a:latin typeface="Nobile" pitchFamily="34" charset="0"/>
                <a:ea typeface="Nobile" pitchFamily="34" charset="-122"/>
                <a:cs typeface="Nobile" pitchFamily="34" charset="-120"/>
              </a:rPr>
              <a:t>Wird benutzt, wenn man pflegebedürftig wird und Unterstützung benötigt.</a:t>
            </a:r>
            <a:endParaRPr lang="en-US" sz="1600" dirty="0"/>
          </a:p>
        </p:txBody>
      </p:sp>
      <p:sp>
        <p:nvSpPr>
          <p:cNvPr id="16" name="Shape 12"/>
          <p:cNvSpPr/>
          <p:nvPr/>
        </p:nvSpPr>
        <p:spPr>
          <a:xfrm>
            <a:off x="9650968" y="2977396"/>
            <a:ext cx="4261842" cy="2167533"/>
          </a:xfrm>
          <a:prstGeom prst="roundRect">
            <a:avLst>
              <a:gd name="adj" fmla="val 5062"/>
            </a:avLst>
          </a:prstGeom>
          <a:solidFill>
            <a:srgbClr val="D1E7D2"/>
          </a:solidFill>
          <a:ln/>
        </p:spPr>
      </p:sp>
      <p:sp>
        <p:nvSpPr>
          <p:cNvPr id="17" name="Shape 13"/>
          <p:cNvSpPr/>
          <p:nvPr/>
        </p:nvSpPr>
        <p:spPr>
          <a:xfrm>
            <a:off x="9650968" y="2954536"/>
            <a:ext cx="4261842" cy="91440"/>
          </a:xfrm>
          <a:prstGeom prst="roundRect">
            <a:avLst>
              <a:gd name="adj" fmla="val 201771"/>
            </a:avLst>
          </a:prstGeom>
          <a:solidFill>
            <a:srgbClr val="438951"/>
          </a:solidFill>
          <a:ln/>
        </p:spPr>
      </p:sp>
      <p:sp>
        <p:nvSpPr>
          <p:cNvPr id="18" name="Shape 14"/>
          <p:cNvSpPr/>
          <p:nvPr/>
        </p:nvSpPr>
        <p:spPr>
          <a:xfrm>
            <a:off x="11474351" y="2669977"/>
            <a:ext cx="614958" cy="614958"/>
          </a:xfrm>
          <a:prstGeom prst="roundRect">
            <a:avLst>
              <a:gd name="adj" fmla="val 148693"/>
            </a:avLst>
          </a:prstGeom>
          <a:solidFill>
            <a:srgbClr val="438951"/>
          </a:solidFill>
          <a:ln/>
        </p:spPr>
      </p:sp>
      <p:pic>
        <p:nvPicPr>
          <p:cNvPr id="19" name="Image 2" descr="preencoded.png">    </p:cNvPr>
          <p:cNvPicPr>
            <a:picLocks noChangeAspect="1"/>
          </p:cNvPicPr>
          <p:nvPr/>
        </p:nvPicPr>
        <p:blipFill>
          <a:blip r:embed="rId3"/>
          <a:stretch>
            <a:fillRect/>
          </a:stretch>
        </p:blipFill>
        <p:spPr>
          <a:xfrm>
            <a:off x="11658779" y="2823686"/>
            <a:ext cx="245983" cy="307419"/>
          </a:xfrm>
          <a:prstGeom prst="rect">
            <a:avLst/>
          </a:prstGeom>
        </p:spPr>
      </p:pic>
      <p:sp>
        <p:nvSpPr>
          <p:cNvPr id="20" name="Text 15"/>
          <p:cNvSpPr/>
          <p:nvPr/>
        </p:nvSpPr>
        <p:spPr>
          <a:xfrm>
            <a:off x="9878735" y="3489841"/>
            <a:ext cx="2666881" cy="320278"/>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Rentenversicherung</a:t>
            </a:r>
            <a:endParaRPr lang="en-US" sz="2000" dirty="0"/>
          </a:p>
        </p:txBody>
      </p:sp>
      <p:sp>
        <p:nvSpPr>
          <p:cNvPr id="21" name="Text 16"/>
          <p:cNvSpPr/>
          <p:nvPr/>
        </p:nvSpPr>
        <p:spPr>
          <a:xfrm>
            <a:off x="9878735" y="3933111"/>
            <a:ext cx="3806309" cy="984052"/>
          </a:xfrm>
          <a:prstGeom prst="rect">
            <a:avLst/>
          </a:prstGeom>
          <a:noFill/>
          <a:ln/>
        </p:spPr>
        <p:txBody>
          <a:bodyPr wrap="square" lIns="0" tIns="0" rIns="0" bIns="0" rtlCol="0" anchor="t"/>
          <a:lstStyle/>
          <a:p>
            <a:pPr algn="l" indent="0" marL="0">
              <a:lnSpc>
                <a:spcPts val="2550"/>
              </a:lnSpc>
              <a:buNone/>
            </a:pPr>
            <a:r>
              <a:rPr lang="en-US" sz="1600" dirty="0">
                <a:solidFill>
                  <a:srgbClr val="405449"/>
                </a:solidFill>
                <a:latin typeface="Nobile" pitchFamily="34" charset="0"/>
                <a:ea typeface="Nobile" pitchFamily="34" charset="-122"/>
                <a:cs typeface="Nobile" pitchFamily="34" charset="-120"/>
              </a:rPr>
              <a:t>Sorgt dafür, dass man im Alter Geld bekommt oder wenn man frühzeitig nicht mehr arbeiten kann.</a:t>
            </a:r>
            <a:endParaRPr lang="en-US" sz="1600" dirty="0"/>
          </a:p>
        </p:txBody>
      </p:sp>
      <p:sp>
        <p:nvSpPr>
          <p:cNvPr id="22" name="Shape 17"/>
          <p:cNvSpPr/>
          <p:nvPr/>
        </p:nvSpPr>
        <p:spPr>
          <a:xfrm>
            <a:off x="717471" y="5657255"/>
            <a:ext cx="6495217" cy="1839516"/>
          </a:xfrm>
          <a:prstGeom prst="roundRect">
            <a:avLst>
              <a:gd name="adj" fmla="val 5965"/>
            </a:avLst>
          </a:prstGeom>
          <a:solidFill>
            <a:srgbClr val="D1E7D2"/>
          </a:solidFill>
          <a:ln/>
        </p:spPr>
      </p:sp>
      <p:sp>
        <p:nvSpPr>
          <p:cNvPr id="23" name="Shape 18"/>
          <p:cNvSpPr/>
          <p:nvPr/>
        </p:nvSpPr>
        <p:spPr>
          <a:xfrm>
            <a:off x="717471" y="5634395"/>
            <a:ext cx="6495217" cy="91440"/>
          </a:xfrm>
          <a:prstGeom prst="roundRect">
            <a:avLst>
              <a:gd name="adj" fmla="val 201771"/>
            </a:avLst>
          </a:prstGeom>
          <a:solidFill>
            <a:srgbClr val="438951"/>
          </a:solidFill>
          <a:ln/>
        </p:spPr>
      </p:sp>
      <p:sp>
        <p:nvSpPr>
          <p:cNvPr id="24" name="Shape 19"/>
          <p:cNvSpPr/>
          <p:nvPr/>
        </p:nvSpPr>
        <p:spPr>
          <a:xfrm>
            <a:off x="3657540" y="5349835"/>
            <a:ext cx="614958" cy="614958"/>
          </a:xfrm>
          <a:prstGeom prst="roundRect">
            <a:avLst>
              <a:gd name="adj" fmla="val 148693"/>
            </a:avLst>
          </a:prstGeom>
          <a:solidFill>
            <a:srgbClr val="438951"/>
          </a:solidFill>
          <a:ln/>
        </p:spPr>
      </p:sp>
      <p:pic>
        <p:nvPicPr>
          <p:cNvPr id="25" name="Image 3" descr="preencoded.png">    </p:cNvPr>
          <p:cNvPicPr>
            <a:picLocks noChangeAspect="1"/>
          </p:cNvPicPr>
          <p:nvPr/>
        </p:nvPicPr>
        <p:blipFill>
          <a:blip r:embed="rId4"/>
          <a:stretch>
            <a:fillRect/>
          </a:stretch>
        </p:blipFill>
        <p:spPr>
          <a:xfrm>
            <a:off x="3841968" y="5503545"/>
            <a:ext cx="245983" cy="307419"/>
          </a:xfrm>
          <a:prstGeom prst="rect">
            <a:avLst/>
          </a:prstGeom>
        </p:spPr>
      </p:pic>
      <p:sp>
        <p:nvSpPr>
          <p:cNvPr id="26" name="Text 20"/>
          <p:cNvSpPr/>
          <p:nvPr/>
        </p:nvSpPr>
        <p:spPr>
          <a:xfrm>
            <a:off x="945237" y="6169700"/>
            <a:ext cx="3381375" cy="320278"/>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Arbeitslosenversicherung</a:t>
            </a:r>
            <a:endParaRPr lang="en-US" sz="2000" dirty="0"/>
          </a:p>
        </p:txBody>
      </p:sp>
      <p:sp>
        <p:nvSpPr>
          <p:cNvPr id="27" name="Text 21"/>
          <p:cNvSpPr/>
          <p:nvPr/>
        </p:nvSpPr>
        <p:spPr>
          <a:xfrm>
            <a:off x="945237" y="6612969"/>
            <a:ext cx="6039683" cy="656034"/>
          </a:xfrm>
          <a:prstGeom prst="rect">
            <a:avLst/>
          </a:prstGeom>
          <a:noFill/>
          <a:ln/>
        </p:spPr>
        <p:txBody>
          <a:bodyPr wrap="square" lIns="0" tIns="0" rIns="0" bIns="0" rtlCol="0" anchor="t"/>
          <a:lstStyle/>
          <a:p>
            <a:pPr algn="l" indent="0" marL="0">
              <a:lnSpc>
                <a:spcPts val="2550"/>
              </a:lnSpc>
              <a:buNone/>
            </a:pPr>
            <a:r>
              <a:rPr lang="en-US" sz="1600" dirty="0">
                <a:solidFill>
                  <a:srgbClr val="405449"/>
                </a:solidFill>
                <a:latin typeface="Nobile" pitchFamily="34" charset="0"/>
                <a:ea typeface="Nobile" pitchFamily="34" charset="-122"/>
                <a:cs typeface="Nobile" pitchFamily="34" charset="-120"/>
              </a:rPr>
              <a:t>Sorgt dafür, dass man nicht geldlos ist, wenn man seinen Job verliert.</a:t>
            </a:r>
            <a:endParaRPr lang="en-US" sz="1600" dirty="0"/>
          </a:p>
        </p:txBody>
      </p:sp>
      <p:sp>
        <p:nvSpPr>
          <p:cNvPr id="28" name="Shape 22"/>
          <p:cNvSpPr/>
          <p:nvPr/>
        </p:nvSpPr>
        <p:spPr>
          <a:xfrm>
            <a:off x="7417594" y="5657255"/>
            <a:ext cx="6495217" cy="1839516"/>
          </a:xfrm>
          <a:prstGeom prst="roundRect">
            <a:avLst>
              <a:gd name="adj" fmla="val 5965"/>
            </a:avLst>
          </a:prstGeom>
          <a:solidFill>
            <a:srgbClr val="D1E7D2"/>
          </a:solidFill>
          <a:ln/>
        </p:spPr>
      </p:sp>
      <p:sp>
        <p:nvSpPr>
          <p:cNvPr id="29" name="Shape 23"/>
          <p:cNvSpPr/>
          <p:nvPr/>
        </p:nvSpPr>
        <p:spPr>
          <a:xfrm>
            <a:off x="7417594" y="5634395"/>
            <a:ext cx="6495217" cy="91440"/>
          </a:xfrm>
          <a:prstGeom prst="roundRect">
            <a:avLst>
              <a:gd name="adj" fmla="val 201771"/>
            </a:avLst>
          </a:prstGeom>
          <a:solidFill>
            <a:srgbClr val="438951"/>
          </a:solidFill>
          <a:ln/>
        </p:spPr>
      </p:sp>
      <p:sp>
        <p:nvSpPr>
          <p:cNvPr id="30" name="Shape 24"/>
          <p:cNvSpPr/>
          <p:nvPr/>
        </p:nvSpPr>
        <p:spPr>
          <a:xfrm>
            <a:off x="10357664" y="5349835"/>
            <a:ext cx="614958" cy="614958"/>
          </a:xfrm>
          <a:prstGeom prst="roundRect">
            <a:avLst>
              <a:gd name="adj" fmla="val 148693"/>
            </a:avLst>
          </a:prstGeom>
          <a:solidFill>
            <a:srgbClr val="438951"/>
          </a:solidFill>
          <a:ln/>
        </p:spPr>
      </p:sp>
      <p:pic>
        <p:nvPicPr>
          <p:cNvPr id="31" name="Image 4" descr="preencoded.png">    </p:cNvPr>
          <p:cNvPicPr>
            <a:picLocks noChangeAspect="1"/>
          </p:cNvPicPr>
          <p:nvPr/>
        </p:nvPicPr>
        <p:blipFill>
          <a:blip r:embed="rId5"/>
          <a:stretch>
            <a:fillRect/>
          </a:stretch>
        </p:blipFill>
        <p:spPr>
          <a:xfrm>
            <a:off x="10542091" y="5503545"/>
            <a:ext cx="245983" cy="307419"/>
          </a:xfrm>
          <a:prstGeom prst="rect">
            <a:avLst/>
          </a:prstGeom>
        </p:spPr>
      </p:pic>
      <p:sp>
        <p:nvSpPr>
          <p:cNvPr id="32" name="Text 25"/>
          <p:cNvSpPr/>
          <p:nvPr/>
        </p:nvSpPr>
        <p:spPr>
          <a:xfrm>
            <a:off x="7645360" y="6169700"/>
            <a:ext cx="2562463" cy="320278"/>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Unfallversicherung</a:t>
            </a:r>
            <a:endParaRPr lang="en-US" sz="2000" dirty="0"/>
          </a:p>
        </p:txBody>
      </p:sp>
      <p:sp>
        <p:nvSpPr>
          <p:cNvPr id="33" name="Text 26"/>
          <p:cNvSpPr/>
          <p:nvPr/>
        </p:nvSpPr>
        <p:spPr>
          <a:xfrm>
            <a:off x="7645360" y="6612969"/>
            <a:ext cx="6039683" cy="656034"/>
          </a:xfrm>
          <a:prstGeom prst="rect">
            <a:avLst/>
          </a:prstGeom>
          <a:noFill/>
          <a:ln/>
        </p:spPr>
        <p:txBody>
          <a:bodyPr wrap="square" lIns="0" tIns="0" rIns="0" bIns="0" rtlCol="0" anchor="t"/>
          <a:lstStyle/>
          <a:p>
            <a:pPr algn="l" indent="0" marL="0">
              <a:lnSpc>
                <a:spcPts val="2550"/>
              </a:lnSpc>
              <a:buNone/>
            </a:pPr>
            <a:r>
              <a:rPr lang="en-US" sz="1600" dirty="0">
                <a:solidFill>
                  <a:srgbClr val="405449"/>
                </a:solidFill>
                <a:latin typeface="Nobile" pitchFamily="34" charset="0"/>
                <a:ea typeface="Nobile" pitchFamily="34" charset="-122"/>
                <a:cs typeface="Nobile" pitchFamily="34" charset="-120"/>
              </a:rPr>
              <a:t>Springt ein bei Arbeitsunfällen und Berufskrankheiten – hier zahlt nur der Arbeitgeber.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493895" y="463629"/>
            <a:ext cx="5642491" cy="526852"/>
          </a:xfrm>
          <a:prstGeom prst="rect">
            <a:avLst/>
          </a:prstGeom>
          <a:noFill/>
          <a:ln/>
        </p:spPr>
        <p:txBody>
          <a:bodyPr wrap="none" lIns="0" tIns="0" rIns="0" bIns="0" rtlCol="0" anchor="t"/>
          <a:lstStyle/>
          <a:p>
            <a:pPr algn="ctr" indent="0" marL="0">
              <a:lnSpc>
                <a:spcPts val="4100"/>
              </a:lnSpc>
              <a:buNone/>
            </a:pPr>
            <a:r>
              <a:rPr lang="en-US" sz="3300" b="1" dirty="0">
                <a:solidFill>
                  <a:srgbClr val="3B4540"/>
                </a:solidFill>
                <a:latin typeface="Fraunces Extra Bold" pitchFamily="34" charset="0"/>
                <a:ea typeface="Fraunces Extra Bold" pitchFamily="34" charset="-122"/>
                <a:cs typeface="Fraunces Extra Bold" pitchFamily="34" charset="-120"/>
              </a:rPr>
              <a:t>Schutz in jeder Lebenslage</a:t>
            </a:r>
            <a:endParaRPr lang="en-US" sz="3300" dirty="0"/>
          </a:p>
        </p:txBody>
      </p:sp>
      <p:pic>
        <p:nvPicPr>
          <p:cNvPr id="3" name="Image 0" descr="preencoded.png">    </p:cNvPr>
          <p:cNvPicPr>
            <a:picLocks noChangeAspect="1"/>
          </p:cNvPicPr>
          <p:nvPr/>
        </p:nvPicPr>
        <p:blipFill>
          <a:blip r:embed="rId1"/>
          <a:stretch>
            <a:fillRect/>
          </a:stretch>
        </p:blipFill>
        <p:spPr>
          <a:xfrm>
            <a:off x="590074" y="1433036"/>
            <a:ext cx="4163020" cy="4163020"/>
          </a:xfrm>
          <a:prstGeom prst="rect">
            <a:avLst/>
          </a:prstGeom>
        </p:spPr>
      </p:pic>
      <p:sp>
        <p:nvSpPr>
          <p:cNvPr id="4" name="Text 1"/>
          <p:cNvSpPr/>
          <p:nvPr/>
        </p:nvSpPr>
        <p:spPr>
          <a:xfrm>
            <a:off x="590074" y="5785723"/>
            <a:ext cx="2839283" cy="316111"/>
          </a:xfrm>
          <a:prstGeom prst="rect">
            <a:avLst/>
          </a:prstGeom>
          <a:noFill/>
          <a:ln/>
        </p:spPr>
        <p:txBody>
          <a:bodyPr wrap="none" lIns="0" tIns="0" rIns="0" bIns="0" rtlCol="0" anchor="t"/>
          <a:lstStyle/>
          <a:p>
            <a:pPr algn="l" indent="0" marL="0">
              <a:lnSpc>
                <a:spcPts val="2450"/>
              </a:lnSpc>
              <a:buNone/>
            </a:pPr>
            <a:r>
              <a:rPr lang="en-US" sz="1950" b="1" dirty="0">
                <a:solidFill>
                  <a:srgbClr val="3B4540"/>
                </a:solidFill>
                <a:latin typeface="Fraunces Extra Bold" pitchFamily="34" charset="0"/>
                <a:ea typeface="Fraunces Extra Bold" pitchFamily="34" charset="-122"/>
                <a:cs typeface="Fraunces Extra Bold" pitchFamily="34" charset="-120"/>
              </a:rPr>
              <a:t>Krankenversicherung</a:t>
            </a:r>
            <a:endParaRPr lang="en-US" sz="1950" dirty="0"/>
          </a:p>
        </p:txBody>
      </p:sp>
      <p:sp>
        <p:nvSpPr>
          <p:cNvPr id="5" name="Text 2"/>
          <p:cNvSpPr/>
          <p:nvPr/>
        </p:nvSpPr>
        <p:spPr>
          <a:xfrm>
            <a:off x="590074" y="6270427"/>
            <a:ext cx="4163020" cy="161805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Die Krankenversicherung deckt die Kosten für medizinische Behandlungen, von Routineuntersuchungen bis hin zu komplexen Operationen und Medikamenten. Sie gewährleistet den Zugang zu hochwertiger Gesundheitsversorgung für alle Versicherten.</a:t>
            </a:r>
            <a:endParaRPr lang="en-US" sz="1300" dirty="0"/>
          </a:p>
        </p:txBody>
      </p:sp>
      <p:pic>
        <p:nvPicPr>
          <p:cNvPr id="6" name="Image 1" descr="preencoded.png">    </p:cNvPr>
          <p:cNvPicPr>
            <a:picLocks noChangeAspect="1"/>
          </p:cNvPicPr>
          <p:nvPr/>
        </p:nvPicPr>
        <p:blipFill>
          <a:blip r:embed="rId2"/>
          <a:stretch>
            <a:fillRect/>
          </a:stretch>
        </p:blipFill>
        <p:spPr>
          <a:xfrm>
            <a:off x="5171956" y="1433036"/>
            <a:ext cx="4163020" cy="4163020"/>
          </a:xfrm>
          <a:prstGeom prst="rect">
            <a:avLst/>
          </a:prstGeom>
        </p:spPr>
      </p:pic>
      <p:sp>
        <p:nvSpPr>
          <p:cNvPr id="7" name="Text 3"/>
          <p:cNvSpPr/>
          <p:nvPr/>
        </p:nvSpPr>
        <p:spPr>
          <a:xfrm>
            <a:off x="5171956" y="5785723"/>
            <a:ext cx="2528888" cy="316111"/>
          </a:xfrm>
          <a:prstGeom prst="rect">
            <a:avLst/>
          </a:prstGeom>
          <a:noFill/>
          <a:ln/>
        </p:spPr>
        <p:txBody>
          <a:bodyPr wrap="none" lIns="0" tIns="0" rIns="0" bIns="0" rtlCol="0" anchor="t"/>
          <a:lstStyle/>
          <a:p>
            <a:pPr algn="l" indent="0" marL="0">
              <a:lnSpc>
                <a:spcPts val="2450"/>
              </a:lnSpc>
              <a:buNone/>
            </a:pPr>
            <a:r>
              <a:rPr lang="en-US" sz="1950" b="1" dirty="0">
                <a:solidFill>
                  <a:srgbClr val="3B4540"/>
                </a:solidFill>
                <a:latin typeface="Fraunces Extra Bold" pitchFamily="34" charset="0"/>
                <a:ea typeface="Fraunces Extra Bold" pitchFamily="34" charset="-122"/>
                <a:cs typeface="Fraunces Extra Bold" pitchFamily="34" charset="-120"/>
              </a:rPr>
              <a:t>Pflegeversicherung</a:t>
            </a:r>
            <a:endParaRPr lang="en-US" sz="1950" dirty="0"/>
          </a:p>
        </p:txBody>
      </p:sp>
      <p:sp>
        <p:nvSpPr>
          <p:cNvPr id="8" name="Text 4"/>
          <p:cNvSpPr/>
          <p:nvPr/>
        </p:nvSpPr>
        <p:spPr>
          <a:xfrm>
            <a:off x="5171956" y="6270427"/>
            <a:ext cx="4163020" cy="1348383"/>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Sollten Sie im Laufe Ihres Lebens pflegebedürftig werden, unterstützt die Pflegeversicherung Sie finanziell bei der häuslichen oder stationären Pflege. Sie ist ein wichtiger Baustein für Würde und Selbstbestimmung im Alter oder bei Krankheit.</a:t>
            </a:r>
            <a:endParaRPr lang="en-US" sz="1300" dirty="0"/>
          </a:p>
        </p:txBody>
      </p:sp>
      <p:pic>
        <p:nvPicPr>
          <p:cNvPr id="9" name="Image 2" descr="preencoded.png">    </p:cNvPr>
          <p:cNvPicPr>
            <a:picLocks noChangeAspect="1"/>
          </p:cNvPicPr>
          <p:nvPr/>
        </p:nvPicPr>
        <p:blipFill>
          <a:blip r:embed="rId3"/>
          <a:stretch>
            <a:fillRect/>
          </a:stretch>
        </p:blipFill>
        <p:spPr>
          <a:xfrm>
            <a:off x="9753838" y="1433036"/>
            <a:ext cx="4301609" cy="4301609"/>
          </a:xfrm>
          <a:prstGeom prst="rect">
            <a:avLst/>
          </a:prstGeom>
        </p:spPr>
      </p:pic>
      <p:sp>
        <p:nvSpPr>
          <p:cNvPr id="10" name="Text 5"/>
          <p:cNvSpPr/>
          <p:nvPr/>
        </p:nvSpPr>
        <p:spPr>
          <a:xfrm>
            <a:off x="9753838" y="5924312"/>
            <a:ext cx="2632115" cy="316111"/>
          </a:xfrm>
          <a:prstGeom prst="rect">
            <a:avLst/>
          </a:prstGeom>
          <a:noFill/>
          <a:ln/>
        </p:spPr>
        <p:txBody>
          <a:bodyPr wrap="none" lIns="0" tIns="0" rIns="0" bIns="0" rtlCol="0" anchor="t"/>
          <a:lstStyle/>
          <a:p>
            <a:pPr algn="l" indent="0" marL="0">
              <a:lnSpc>
                <a:spcPts val="2450"/>
              </a:lnSpc>
              <a:buNone/>
            </a:pPr>
            <a:r>
              <a:rPr lang="en-US" sz="1950" b="1" dirty="0">
                <a:solidFill>
                  <a:srgbClr val="3B4540"/>
                </a:solidFill>
                <a:latin typeface="Fraunces Extra Bold" pitchFamily="34" charset="0"/>
                <a:ea typeface="Fraunces Extra Bold" pitchFamily="34" charset="-122"/>
                <a:cs typeface="Fraunces Extra Bold" pitchFamily="34" charset="-120"/>
              </a:rPr>
              <a:t>Rentenversicherung</a:t>
            </a:r>
            <a:endParaRPr lang="en-US" sz="1950" dirty="0"/>
          </a:p>
        </p:txBody>
      </p:sp>
      <p:sp>
        <p:nvSpPr>
          <p:cNvPr id="11" name="Text 6"/>
          <p:cNvSpPr/>
          <p:nvPr/>
        </p:nvSpPr>
        <p:spPr>
          <a:xfrm>
            <a:off x="9753838" y="6409015"/>
            <a:ext cx="4301609" cy="1348383"/>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Die Rentenversicherung sichert Ihren Lebensstandard im Ruhestand. Sie zahlt eine monatliche Rente aus, wenn Sie das Rentenalter erreichen oder dauerhaft erwerbsunfähig werden, und bietet auch Schutz für Hinterbliebene.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93200" y="311825"/>
            <a:ext cx="7244001" cy="354330"/>
          </a:xfrm>
          <a:prstGeom prst="rect">
            <a:avLst/>
          </a:prstGeom>
          <a:noFill/>
          <a:ln/>
        </p:spPr>
        <p:txBody>
          <a:bodyPr wrap="none" lIns="0" tIns="0" rIns="0" bIns="0" rtlCol="0" anchor="t"/>
          <a:lstStyle/>
          <a:p>
            <a:pPr algn="ctr" indent="0" marL="0">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Sicherheit im Berufsleben &amp; Ihre Lohnabrechnung</a:t>
            </a:r>
            <a:endParaRPr lang="en-US" sz="2200" dirty="0"/>
          </a:p>
        </p:txBody>
      </p:sp>
      <p:pic>
        <p:nvPicPr>
          <p:cNvPr id="3" name="Image 0" descr="preencoded.png">    </p:cNvPr>
          <p:cNvPicPr>
            <a:picLocks noChangeAspect="1"/>
          </p:cNvPicPr>
          <p:nvPr/>
        </p:nvPicPr>
        <p:blipFill>
          <a:blip r:embed="rId1"/>
          <a:stretch>
            <a:fillRect/>
          </a:stretch>
        </p:blipFill>
        <p:spPr>
          <a:xfrm>
            <a:off x="396835" y="963692"/>
            <a:ext cx="6780014" cy="6780014"/>
          </a:xfrm>
          <a:prstGeom prst="rect">
            <a:avLst/>
          </a:prstGeom>
        </p:spPr>
      </p:pic>
      <p:sp>
        <p:nvSpPr>
          <p:cNvPr id="4" name="Text 1"/>
          <p:cNvSpPr/>
          <p:nvPr/>
        </p:nvSpPr>
        <p:spPr>
          <a:xfrm>
            <a:off x="396835" y="7871222"/>
            <a:ext cx="2244804" cy="212646"/>
          </a:xfrm>
          <a:prstGeom prst="rect">
            <a:avLst/>
          </a:prstGeom>
          <a:noFill/>
          <a:ln/>
        </p:spPr>
        <p:txBody>
          <a:bodyPr wrap="none" lIns="0" tIns="0" rIns="0" bIns="0" rtlCol="0" anchor="t"/>
          <a:lstStyle/>
          <a:p>
            <a:pPr algn="l" indent="0" marL="0">
              <a:lnSpc>
                <a:spcPts val="1650"/>
              </a:lnSpc>
              <a:buNone/>
            </a:pPr>
            <a:r>
              <a:rPr lang="en-US" sz="1300" b="1" dirty="0">
                <a:solidFill>
                  <a:srgbClr val="3B4540"/>
                </a:solidFill>
                <a:latin typeface="Fraunces Extra Bold" pitchFamily="34" charset="0"/>
                <a:ea typeface="Fraunces Extra Bold" pitchFamily="34" charset="-122"/>
                <a:cs typeface="Fraunces Extra Bold" pitchFamily="34" charset="-120"/>
              </a:rPr>
              <a:t>Arbeitslosenversicherung</a:t>
            </a:r>
            <a:endParaRPr lang="en-US" sz="1300" dirty="0"/>
          </a:p>
        </p:txBody>
      </p:sp>
      <p:sp>
        <p:nvSpPr>
          <p:cNvPr id="5" name="Text 2"/>
          <p:cNvSpPr/>
          <p:nvPr/>
        </p:nvSpPr>
        <p:spPr>
          <a:xfrm>
            <a:off x="396835" y="8197215"/>
            <a:ext cx="6780014" cy="362903"/>
          </a:xfrm>
          <a:prstGeom prst="rect">
            <a:avLst/>
          </a:prstGeom>
          <a:noFill/>
          <a:ln/>
        </p:spPr>
        <p:txBody>
          <a:bodyPr wrap="square" lIns="0" tIns="0" rIns="0" bIns="0" rtlCol="0" anchor="t"/>
          <a:lstStyle/>
          <a:p>
            <a:pPr algn="l" indent="0" marL="0">
              <a:lnSpc>
                <a:spcPts val="1400"/>
              </a:lnSpc>
              <a:buNone/>
            </a:pPr>
            <a:r>
              <a:rPr lang="en-US" sz="850" dirty="0">
                <a:solidFill>
                  <a:srgbClr val="405449"/>
                </a:solidFill>
                <a:latin typeface="Nobile" pitchFamily="34" charset="0"/>
                <a:ea typeface="Nobile" pitchFamily="34" charset="-122"/>
                <a:cs typeface="Nobile" pitchFamily="34" charset="-120"/>
              </a:rPr>
              <a:t>Im Falle eines Jobverlusts bietet die Arbeitslosenversicherung finanzielle Unterstützung, um die Übergangszeit zu überbrücken und die Suche nach einer neuen Anstellung zu erleichtern. Sie hilft, soziale Härten zu vermeiden.</a:t>
            </a:r>
            <a:endParaRPr lang="en-US" sz="850" dirty="0"/>
          </a:p>
        </p:txBody>
      </p:sp>
      <p:sp>
        <p:nvSpPr>
          <p:cNvPr id="6" name="Text 3"/>
          <p:cNvSpPr/>
          <p:nvPr/>
        </p:nvSpPr>
        <p:spPr>
          <a:xfrm>
            <a:off x="396835" y="8662154"/>
            <a:ext cx="6780014" cy="362903"/>
          </a:xfrm>
          <a:prstGeom prst="rect">
            <a:avLst/>
          </a:prstGeom>
          <a:noFill/>
          <a:ln/>
        </p:spPr>
        <p:txBody>
          <a:bodyPr wrap="square" lIns="0" tIns="0" rIns="0" bIns="0" rtlCol="0" anchor="t"/>
          <a:lstStyle/>
          <a:p>
            <a:pPr algn="l" indent="0" marL="0">
              <a:lnSpc>
                <a:spcPts val="1400"/>
              </a:lnSpc>
              <a:buNone/>
            </a:pPr>
            <a:endParaRPr lang="en-US" sz="850" dirty="0"/>
          </a:p>
        </p:txBody>
      </p:sp>
      <p:pic>
        <p:nvPicPr>
          <p:cNvPr id="7" name="Image 1" descr="preencoded.png">    </p:cNvPr>
          <p:cNvPicPr>
            <a:picLocks noChangeAspect="1"/>
          </p:cNvPicPr>
          <p:nvPr/>
        </p:nvPicPr>
        <p:blipFill>
          <a:blip r:embed="rId2"/>
          <a:stretch>
            <a:fillRect/>
          </a:stretch>
        </p:blipFill>
        <p:spPr>
          <a:xfrm>
            <a:off x="396835" y="9152573"/>
            <a:ext cx="6780014" cy="6780014"/>
          </a:xfrm>
          <a:prstGeom prst="rect">
            <a:avLst/>
          </a:prstGeom>
        </p:spPr>
      </p:pic>
      <p:sp>
        <p:nvSpPr>
          <p:cNvPr id="8" name="Text 4"/>
          <p:cNvSpPr/>
          <p:nvPr/>
        </p:nvSpPr>
        <p:spPr>
          <a:xfrm>
            <a:off x="396835" y="16060103"/>
            <a:ext cx="1701165" cy="212646"/>
          </a:xfrm>
          <a:prstGeom prst="rect">
            <a:avLst/>
          </a:prstGeom>
          <a:noFill/>
          <a:ln/>
        </p:spPr>
        <p:txBody>
          <a:bodyPr wrap="none" lIns="0" tIns="0" rIns="0" bIns="0" rtlCol="0" anchor="t"/>
          <a:lstStyle/>
          <a:p>
            <a:pPr algn="l" indent="0" marL="0">
              <a:lnSpc>
                <a:spcPts val="1650"/>
              </a:lnSpc>
              <a:buNone/>
            </a:pPr>
            <a:r>
              <a:rPr lang="en-US" sz="1300" b="1" dirty="0">
                <a:solidFill>
                  <a:srgbClr val="3B4540"/>
                </a:solidFill>
                <a:latin typeface="Fraunces Extra Bold" pitchFamily="34" charset="0"/>
                <a:ea typeface="Fraunces Extra Bold" pitchFamily="34" charset="-122"/>
                <a:cs typeface="Fraunces Extra Bold" pitchFamily="34" charset="-120"/>
              </a:rPr>
              <a:t>Unfallversicherung</a:t>
            </a:r>
            <a:endParaRPr lang="en-US" sz="1300" dirty="0"/>
          </a:p>
        </p:txBody>
      </p:sp>
      <p:sp>
        <p:nvSpPr>
          <p:cNvPr id="9" name="Text 5"/>
          <p:cNvSpPr/>
          <p:nvPr/>
        </p:nvSpPr>
        <p:spPr>
          <a:xfrm>
            <a:off x="396835" y="16386096"/>
            <a:ext cx="6780014" cy="362903"/>
          </a:xfrm>
          <a:prstGeom prst="rect">
            <a:avLst/>
          </a:prstGeom>
          <a:noFill/>
          <a:ln/>
        </p:spPr>
        <p:txBody>
          <a:bodyPr wrap="square" lIns="0" tIns="0" rIns="0" bIns="0" rtlCol="0" anchor="t"/>
          <a:lstStyle/>
          <a:p>
            <a:pPr algn="l" indent="0" marL="0">
              <a:lnSpc>
                <a:spcPts val="1400"/>
              </a:lnSpc>
              <a:buNone/>
            </a:pPr>
            <a:r>
              <a:rPr lang="en-US" sz="850" dirty="0">
                <a:solidFill>
                  <a:srgbClr val="405449"/>
                </a:solidFill>
                <a:latin typeface="Nobile" pitchFamily="34" charset="0"/>
                <a:ea typeface="Nobile" pitchFamily="34" charset="-122"/>
                <a:cs typeface="Nobile" pitchFamily="34" charset="-120"/>
              </a:rPr>
              <a:t>Die Unfallversicherung schützt Sie vor den Folgen von Arbeitsunfällen und Berufskrankheiten. Sie übernimmt Heilbehandlungskosten, Renten bei dauerhaften Schäden und zahlt nur der Arbeitgeber.</a:t>
            </a:r>
            <a:endParaRPr lang="en-US" sz="850" dirty="0"/>
          </a:p>
        </p:txBody>
      </p:sp>
      <p:sp>
        <p:nvSpPr>
          <p:cNvPr id="10" name="Text 6"/>
          <p:cNvSpPr/>
          <p:nvPr/>
        </p:nvSpPr>
        <p:spPr>
          <a:xfrm>
            <a:off x="7461171" y="949523"/>
            <a:ext cx="4351139" cy="283488"/>
          </a:xfrm>
          <a:prstGeom prst="rect">
            <a:avLst/>
          </a:prstGeom>
          <a:noFill/>
          <a:ln/>
        </p:spPr>
        <p:txBody>
          <a:bodyPr wrap="none" lIns="0" tIns="0" rIns="0" bIns="0" rtlCol="0" anchor="t"/>
          <a:lstStyle/>
          <a:p>
            <a:pPr algn="l" indent="0" marL="0">
              <a:lnSpc>
                <a:spcPts val="2200"/>
              </a:lnSpc>
              <a:buNone/>
            </a:pPr>
            <a:r>
              <a:rPr lang="en-US" sz="1750" b="1" dirty="0">
                <a:solidFill>
                  <a:srgbClr val="3B4540"/>
                </a:solidFill>
                <a:latin typeface="Fraunces Extra Bold" pitchFamily="34" charset="0"/>
                <a:ea typeface="Fraunces Extra Bold" pitchFamily="34" charset="-122"/>
                <a:cs typeface="Fraunces Extra Bold" pitchFamily="34" charset="-120"/>
              </a:rPr>
              <a:t>Aufgabe 1: Lohnabrechnungs-Analyse</a:t>
            </a:r>
            <a:endParaRPr lang="en-US" sz="1750" dirty="0"/>
          </a:p>
        </p:txBody>
      </p:sp>
      <p:sp>
        <p:nvSpPr>
          <p:cNvPr id="11" name="Text 7"/>
          <p:cNvSpPr/>
          <p:nvPr/>
        </p:nvSpPr>
        <p:spPr>
          <a:xfrm>
            <a:off x="7461171" y="1346359"/>
            <a:ext cx="6780014" cy="362903"/>
          </a:xfrm>
          <a:prstGeom prst="rect">
            <a:avLst/>
          </a:prstGeom>
          <a:noFill/>
          <a:ln/>
        </p:spPr>
        <p:txBody>
          <a:bodyPr wrap="square" lIns="0" tIns="0" rIns="0" bIns="0" rtlCol="0" anchor="t"/>
          <a:lstStyle/>
          <a:p>
            <a:pPr algn="l" indent="0" marL="0">
              <a:lnSpc>
                <a:spcPts val="1400"/>
              </a:lnSpc>
              <a:buNone/>
            </a:pPr>
            <a:r>
              <a:rPr lang="en-US" sz="850" dirty="0">
                <a:solidFill>
                  <a:srgbClr val="405449"/>
                </a:solidFill>
                <a:latin typeface="Nobile" pitchFamily="34" charset="0"/>
                <a:ea typeface="Nobile" pitchFamily="34" charset="-122"/>
                <a:cs typeface="Nobile" pitchFamily="34" charset="-120"/>
              </a:rPr>
              <a:t>Um die Funktionsweise der Sozialversicherung besser zu verstehen, ist es hilfreich, einen Blick auf Ihre eigene Lohnabrechnung zu werfen.</a:t>
            </a:r>
            <a:endParaRPr lang="en-US" sz="850" dirty="0"/>
          </a:p>
        </p:txBody>
      </p:sp>
      <p:sp>
        <p:nvSpPr>
          <p:cNvPr id="12" name="Text 8"/>
          <p:cNvSpPr/>
          <p:nvPr/>
        </p:nvSpPr>
        <p:spPr>
          <a:xfrm>
            <a:off x="7461171" y="1811298"/>
            <a:ext cx="6780014"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405449"/>
                </a:solidFill>
                <a:latin typeface="Nobile" pitchFamily="34" charset="0"/>
                <a:ea typeface="Nobile" pitchFamily="34" charset="-122"/>
                <a:cs typeface="Nobile" pitchFamily="34" charset="-120"/>
              </a:rPr>
              <a:t>Analysieren Sie eine anonymisierte Muster-Lohnabrechnung für Auszubildende.</a:t>
            </a:r>
            <a:endParaRPr lang="en-US" sz="850" dirty="0"/>
          </a:p>
        </p:txBody>
      </p:sp>
      <p:sp>
        <p:nvSpPr>
          <p:cNvPr id="13" name="Text 9"/>
          <p:cNvSpPr/>
          <p:nvPr/>
        </p:nvSpPr>
        <p:spPr>
          <a:xfrm>
            <a:off x="7461171" y="2032397"/>
            <a:ext cx="6780014"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405449"/>
                </a:solidFill>
                <a:latin typeface="Nobile" pitchFamily="34" charset="0"/>
                <a:ea typeface="Nobile" pitchFamily="34" charset="-122"/>
                <a:cs typeface="Nobile" pitchFamily="34" charset="-120"/>
              </a:rPr>
              <a:t>Identifizieren Sie die Brutto- und Nettovergütung sowie die einzelnen Abzüge für die Sozialversicherungen.</a:t>
            </a:r>
            <a:endParaRPr lang="en-US" sz="850" dirty="0"/>
          </a:p>
        </p:txBody>
      </p:sp>
      <p:sp>
        <p:nvSpPr>
          <p:cNvPr id="14" name="Text 10"/>
          <p:cNvSpPr/>
          <p:nvPr/>
        </p:nvSpPr>
        <p:spPr>
          <a:xfrm>
            <a:off x="7461171" y="2253496"/>
            <a:ext cx="6780014"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405449"/>
                </a:solidFill>
                <a:latin typeface="Nobile" pitchFamily="34" charset="0"/>
                <a:ea typeface="Nobile" pitchFamily="34" charset="-122"/>
                <a:cs typeface="Nobile" pitchFamily="34" charset="-120"/>
              </a:rPr>
              <a:t>Berechnen Sie den prozentualen Anteil der gesamten Sozialabgaben am Bruttogehalt.</a:t>
            </a:r>
            <a:endParaRPr lang="en-US" sz="850" dirty="0"/>
          </a:p>
        </p:txBody>
      </p:sp>
      <p:sp>
        <p:nvSpPr>
          <p:cNvPr id="15" name="Text 11"/>
          <p:cNvSpPr/>
          <p:nvPr/>
        </p:nvSpPr>
        <p:spPr>
          <a:xfrm>
            <a:off x="7461171" y="2474595"/>
            <a:ext cx="6780014"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405449"/>
                </a:solidFill>
                <a:latin typeface="Nobile" pitchFamily="34" charset="0"/>
                <a:ea typeface="Nobile" pitchFamily="34" charset="-122"/>
                <a:cs typeface="Nobile" pitchFamily="34" charset="-120"/>
              </a:rPr>
              <a:t>Vergleichen Sie Ihre Ergebnisse mit einem Online-Gehaltsrechner für Auszubildende.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6039" y="653653"/>
            <a:ext cx="7751921" cy="1243013"/>
          </a:xfrm>
          <a:prstGeom prst="rect">
            <a:avLst/>
          </a:prstGeom>
          <a:noFill/>
          <a:ln/>
        </p:spPr>
        <p:txBody>
          <a:bodyPr wrap="square" lIns="0" tIns="0" rIns="0" bIns="0" rtlCol="0" anchor="t"/>
          <a:lstStyle/>
          <a:p>
            <a:pPr algn="ctr"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Ihre Lohnabrechnung verstehen: Brutto vs. Netto</a:t>
            </a:r>
            <a:endParaRPr lang="en-US" sz="3900" dirty="0"/>
          </a:p>
        </p:txBody>
      </p:sp>
      <p:sp>
        <p:nvSpPr>
          <p:cNvPr id="4" name="Text 1"/>
          <p:cNvSpPr/>
          <p:nvPr/>
        </p:nvSpPr>
        <p:spPr>
          <a:xfrm>
            <a:off x="696039" y="2194917"/>
            <a:ext cx="7751921" cy="636270"/>
          </a:xfrm>
          <a:prstGeom prst="rect">
            <a:avLst/>
          </a:prstGeom>
          <a:noFill/>
          <a:ln/>
        </p:spPr>
        <p:txBody>
          <a:bodyPr wrap="square" lIns="0" tIns="0" rIns="0" bIns="0" rtlCol="0" anchor="t"/>
          <a:lstStyle/>
          <a:p>
            <a:pPr algn="ctr" indent="0" marL="0">
              <a:lnSpc>
                <a:spcPts val="2500"/>
              </a:lnSpc>
              <a:buNone/>
            </a:pPr>
            <a:r>
              <a:rPr lang="en-US" sz="1550" dirty="0">
                <a:solidFill>
                  <a:srgbClr val="405449"/>
                </a:solidFill>
                <a:latin typeface="Nobile" pitchFamily="34" charset="0"/>
                <a:ea typeface="Nobile" pitchFamily="34" charset="-122"/>
                <a:cs typeface="Nobile" pitchFamily="34" charset="-120"/>
              </a:rPr>
              <a:t>Die Lohnabrechnung ist mehr als nur eine Zahl – sie ist ein detaillierter Überblick über Ihr Einkommen und die Beiträge, die zu Ihrer sozialen Sicherheit beitragen.</a:t>
            </a:r>
            <a:endParaRPr lang="en-US" sz="1550" dirty="0"/>
          </a:p>
        </p:txBody>
      </p:sp>
      <p:pic>
        <p:nvPicPr>
          <p:cNvPr id="5" name="Image 1" descr="preencoded.png">    </p:cNvPr>
          <p:cNvPicPr>
            <a:picLocks noChangeAspect="1"/>
          </p:cNvPicPr>
          <p:nvPr/>
        </p:nvPicPr>
        <p:blipFill>
          <a:blip r:embed="rId2"/>
          <a:stretch>
            <a:fillRect/>
          </a:stretch>
        </p:blipFill>
        <p:spPr>
          <a:xfrm>
            <a:off x="696039" y="3054906"/>
            <a:ext cx="7751921" cy="3342799"/>
          </a:xfrm>
          <a:prstGeom prst="rect">
            <a:avLst/>
          </a:prstGeom>
        </p:spPr>
      </p:pic>
      <p:sp>
        <p:nvSpPr>
          <p:cNvPr id="6" name="Text 2"/>
          <p:cNvSpPr/>
          <p:nvPr/>
        </p:nvSpPr>
        <p:spPr>
          <a:xfrm>
            <a:off x="1217671" y="5763785"/>
            <a:ext cx="1758645" cy="219830"/>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Fraunces Extra Bold" pitchFamily="34" charset="0"/>
                <a:ea typeface="Fraunces Extra Bold" pitchFamily="34" charset="-122"/>
                <a:cs typeface="Fraunces Extra Bold" pitchFamily="34" charset="-120"/>
              </a:rPr>
              <a:t>Nettovergütung</a:t>
            </a:r>
            <a:endParaRPr lang="en-US" sz="1350" dirty="0"/>
          </a:p>
        </p:txBody>
      </p:sp>
      <p:sp>
        <p:nvSpPr>
          <p:cNvPr id="7" name="Text 3"/>
          <p:cNvSpPr/>
          <p:nvPr/>
        </p:nvSpPr>
        <p:spPr>
          <a:xfrm>
            <a:off x="1217671" y="4989981"/>
            <a:ext cx="2438044" cy="219831"/>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Fraunces Extra Bold" pitchFamily="34" charset="0"/>
                <a:ea typeface="Fraunces Extra Bold" pitchFamily="34" charset="-122"/>
                <a:cs typeface="Fraunces Extra Bold" pitchFamily="34" charset="-120"/>
              </a:rPr>
              <a:t>Sozialversicherungsabzüge</a:t>
            </a:r>
            <a:endParaRPr lang="en-US" sz="1350" dirty="0"/>
          </a:p>
        </p:txBody>
      </p:sp>
      <p:sp>
        <p:nvSpPr>
          <p:cNvPr id="8" name="Text 4"/>
          <p:cNvSpPr/>
          <p:nvPr/>
        </p:nvSpPr>
        <p:spPr>
          <a:xfrm>
            <a:off x="1217671" y="4223993"/>
            <a:ext cx="1758645" cy="219831"/>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Fraunces Extra Bold" pitchFamily="34" charset="0"/>
                <a:ea typeface="Fraunces Extra Bold" pitchFamily="34" charset="-122"/>
                <a:cs typeface="Fraunces Extra Bold" pitchFamily="34" charset="-120"/>
              </a:rPr>
              <a:t>Steuerabzüge</a:t>
            </a:r>
            <a:endParaRPr lang="en-US" sz="1350" dirty="0"/>
          </a:p>
        </p:txBody>
      </p:sp>
      <p:sp>
        <p:nvSpPr>
          <p:cNvPr id="9" name="Text 5"/>
          <p:cNvSpPr/>
          <p:nvPr/>
        </p:nvSpPr>
        <p:spPr>
          <a:xfrm>
            <a:off x="1217671" y="3450189"/>
            <a:ext cx="1758645" cy="219831"/>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Fraunces Extra Bold" pitchFamily="34" charset="0"/>
                <a:ea typeface="Fraunces Extra Bold" pitchFamily="34" charset="-122"/>
                <a:cs typeface="Fraunces Extra Bold" pitchFamily="34" charset="-120"/>
              </a:rPr>
              <a:t>Bruttovergütung</a:t>
            </a:r>
            <a:endParaRPr lang="en-US" sz="1350" dirty="0"/>
          </a:p>
        </p:txBody>
      </p:sp>
      <p:sp>
        <p:nvSpPr>
          <p:cNvPr id="10" name="Text 6"/>
          <p:cNvSpPr/>
          <p:nvPr/>
        </p:nvSpPr>
        <p:spPr>
          <a:xfrm>
            <a:off x="696039" y="6621423"/>
            <a:ext cx="7751921" cy="954405"/>
          </a:xfrm>
          <a:prstGeom prst="rect">
            <a:avLst/>
          </a:prstGeom>
          <a:noFill/>
          <a:ln/>
        </p:spPr>
        <p:txBody>
          <a:bodyPr wrap="square" lIns="0" tIns="0" rIns="0" bIns="0" rtlCol="0" anchor="t"/>
          <a:lstStyle/>
          <a:p>
            <a:pPr algn="ctr" indent="0" marL="0">
              <a:lnSpc>
                <a:spcPts val="2500"/>
              </a:lnSpc>
              <a:buNone/>
            </a:pPr>
            <a:r>
              <a:rPr lang="en-US" sz="1550" dirty="0">
                <a:solidFill>
                  <a:srgbClr val="405449"/>
                </a:solidFill>
                <a:latin typeface="Nobile" pitchFamily="34" charset="0"/>
                <a:ea typeface="Nobile" pitchFamily="34" charset="-122"/>
                <a:cs typeface="Nobile" pitchFamily="34" charset="-120"/>
              </a:rPr>
              <a:t>Durch die Analyse Ihrer Lohnabrechnung erkennen Sie, wie Ihr Bruttogehalt durch Steuern und Sozialabgaben zu Ihrem Nettogehalt wird, das Ihnen zur freien Verfügung steht.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38206"/>
            <a:ext cx="7556421" cy="1417558"/>
          </a:xfrm>
          <a:prstGeom prst="rect">
            <a:avLst/>
          </a:prstGeom>
          <a:noFill/>
          <a:ln/>
        </p:spPr>
        <p:txBody>
          <a:bodyPr wrap="square" lIns="0" tIns="0" rIns="0" bIns="0" rtlCol="0" anchor="t"/>
          <a:lstStyle/>
          <a:p>
            <a:pPr algn="ctr"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Lebenslanges Lernen: Ihr Kompass in der IT-Welt</a:t>
            </a:r>
            <a:endParaRPr lang="en-US" sz="4450" dirty="0"/>
          </a:p>
        </p:txBody>
      </p:sp>
      <p:sp>
        <p:nvSpPr>
          <p:cNvPr id="4" name="Text 1"/>
          <p:cNvSpPr/>
          <p:nvPr/>
        </p:nvSpPr>
        <p:spPr>
          <a:xfrm>
            <a:off x="793790" y="3595926"/>
            <a:ext cx="7556421" cy="1088708"/>
          </a:xfrm>
          <a:prstGeom prst="rect">
            <a:avLst/>
          </a:prstGeom>
          <a:noFill/>
          <a:ln/>
        </p:spPr>
        <p:txBody>
          <a:bodyPr wrap="square" lIns="0" tIns="0" rIns="0" bIns="0" rtlCol="0" anchor="t"/>
          <a:lstStyle/>
          <a:p>
            <a:pPr algn="ctr" indent="0" marL="0">
              <a:lnSpc>
                <a:spcPts val="2850"/>
              </a:lnSpc>
              <a:buNone/>
            </a:pPr>
            <a:r>
              <a:rPr lang="en-US" sz="1750" dirty="0">
                <a:solidFill>
                  <a:srgbClr val="405449"/>
                </a:solidFill>
                <a:latin typeface="Nobile" pitchFamily="34" charset="0"/>
                <a:ea typeface="Nobile" pitchFamily="34" charset="-122"/>
                <a:cs typeface="Nobile" pitchFamily="34" charset="-120"/>
              </a:rPr>
              <a:t>In der IT ändert sich ständig etwas. Was heute modern ist, kann in ein paar Jahren schon alt sein. Deshalb muss man stets im Wandel sein und sich immer wieder weiterbilden.</a:t>
            </a:r>
            <a:endParaRPr lang="en-US" sz="1750" dirty="0"/>
          </a:p>
        </p:txBody>
      </p:sp>
      <p:sp>
        <p:nvSpPr>
          <p:cNvPr id="5" name="Text 2"/>
          <p:cNvSpPr/>
          <p:nvPr/>
        </p:nvSpPr>
        <p:spPr>
          <a:xfrm>
            <a:off x="793790" y="4939784"/>
            <a:ext cx="7556421" cy="1451610"/>
          </a:xfrm>
          <a:prstGeom prst="rect">
            <a:avLst/>
          </a:prstGeom>
          <a:noFill/>
          <a:ln/>
        </p:spPr>
        <p:txBody>
          <a:bodyPr wrap="square" lIns="0" tIns="0" rIns="0" bIns="0" rtlCol="0" anchor="t"/>
          <a:lstStyle/>
          <a:p>
            <a:pPr algn="ctr" indent="0" marL="0">
              <a:lnSpc>
                <a:spcPts val="2850"/>
              </a:lnSpc>
              <a:buNone/>
            </a:pPr>
            <a:r>
              <a:rPr lang="en-US" sz="1750" dirty="0">
                <a:solidFill>
                  <a:srgbClr val="405449"/>
                </a:solidFill>
                <a:latin typeface="Nobile" pitchFamily="34" charset="0"/>
                <a:ea typeface="Nobile" pitchFamily="34" charset="-122"/>
                <a:cs typeface="Nobile" pitchFamily="34" charset="-120"/>
              </a:rPr>
              <a:t>Die Technologie entwickelt sich rasant, und um wettbewerbsfähig zu bleiben und neue Chancen zu nutzen, ist kontinuierliche Weiterbildung unerlässlich. Es ist eine Investition in Ihre berufliche Zukunft.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6635" y="715089"/>
            <a:ext cx="7750731" cy="1244203"/>
          </a:xfrm>
          <a:prstGeom prst="rect">
            <a:avLst/>
          </a:prstGeom>
          <a:noFill/>
          <a:ln/>
        </p:spPr>
        <p:txBody>
          <a:bodyPr wrap="square" lIns="0" tIns="0" rIns="0" bIns="0" rtlCol="0" anchor="t"/>
          <a:lstStyle/>
          <a:p>
            <a:pPr algn="ctr"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Ihre Karrierewege nach der Ausbildung</a:t>
            </a:r>
            <a:endParaRPr lang="en-US" sz="3900" dirty="0"/>
          </a:p>
        </p:txBody>
      </p:sp>
      <p:sp>
        <p:nvSpPr>
          <p:cNvPr id="4" name="Text 1"/>
          <p:cNvSpPr/>
          <p:nvPr/>
        </p:nvSpPr>
        <p:spPr>
          <a:xfrm>
            <a:off x="696635" y="2257782"/>
            <a:ext cx="7750731" cy="636984"/>
          </a:xfrm>
          <a:prstGeom prst="rect">
            <a:avLst/>
          </a:prstGeom>
          <a:noFill/>
          <a:ln/>
        </p:spPr>
        <p:txBody>
          <a:bodyPr wrap="square" lIns="0" tIns="0" rIns="0" bIns="0" rtlCol="0" anchor="t"/>
          <a:lstStyle/>
          <a:p>
            <a:pPr algn="ctr" indent="0" marL="0">
              <a:lnSpc>
                <a:spcPts val="2500"/>
              </a:lnSpc>
              <a:buNone/>
            </a:pPr>
            <a:r>
              <a:rPr lang="en-US" sz="1550" dirty="0">
                <a:solidFill>
                  <a:srgbClr val="405449"/>
                </a:solidFill>
                <a:latin typeface="Nobile" pitchFamily="34" charset="0"/>
                <a:ea typeface="Nobile" pitchFamily="34" charset="-122"/>
                <a:cs typeface="Nobile" pitchFamily="34" charset="-120"/>
              </a:rPr>
              <a:t>Nach der Ausbildung stehen Ihnen vielfältige Wege offen, um Ihr Wissen zu vertiefen und Ihre Karriere voranzutreiben.</a:t>
            </a:r>
            <a:endParaRPr lang="en-US" sz="1550" dirty="0"/>
          </a:p>
        </p:txBody>
      </p:sp>
      <p:pic>
        <p:nvPicPr>
          <p:cNvPr id="5" name="Image 1" descr="preencoded.png">    </p:cNvPr>
          <p:cNvPicPr>
            <a:picLocks noChangeAspect="1"/>
          </p:cNvPicPr>
          <p:nvPr/>
        </p:nvPicPr>
        <p:blipFill>
          <a:blip r:embed="rId2"/>
          <a:stretch>
            <a:fillRect/>
          </a:stretch>
        </p:blipFill>
        <p:spPr>
          <a:xfrm>
            <a:off x="696635" y="3118604"/>
            <a:ext cx="995243" cy="1465302"/>
          </a:xfrm>
          <a:prstGeom prst="rect">
            <a:avLst/>
          </a:prstGeom>
        </p:spPr>
      </p:pic>
      <p:sp>
        <p:nvSpPr>
          <p:cNvPr id="6" name="Text 2"/>
          <p:cNvSpPr/>
          <p:nvPr/>
        </p:nvSpPr>
        <p:spPr>
          <a:xfrm>
            <a:off x="1890832" y="3317558"/>
            <a:ext cx="3312676" cy="31099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Anpassungsfortbildungen</a:t>
            </a:r>
            <a:endParaRPr lang="en-US" sz="1950" dirty="0"/>
          </a:p>
        </p:txBody>
      </p:sp>
      <p:sp>
        <p:nvSpPr>
          <p:cNvPr id="7" name="Text 3"/>
          <p:cNvSpPr/>
          <p:nvPr/>
        </p:nvSpPr>
        <p:spPr>
          <a:xfrm>
            <a:off x="1890832" y="3747968"/>
            <a:ext cx="6556534" cy="636984"/>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Kurse und Zertifikate, zum Beispiel von Microsoft oder Cisco, um spezifische Fähigkeiten zu aktualisieren und zu erweitern.</a:t>
            </a:r>
            <a:endParaRPr lang="en-US" sz="1550" dirty="0"/>
          </a:p>
        </p:txBody>
      </p:sp>
      <p:pic>
        <p:nvPicPr>
          <p:cNvPr id="8" name="Image 2" descr="preencoded.png">    </p:cNvPr>
          <p:cNvPicPr>
            <a:picLocks noChangeAspect="1"/>
          </p:cNvPicPr>
          <p:nvPr/>
        </p:nvPicPr>
        <p:blipFill>
          <a:blip r:embed="rId3"/>
          <a:stretch>
            <a:fillRect/>
          </a:stretch>
        </p:blipFill>
        <p:spPr>
          <a:xfrm>
            <a:off x="696635" y="4583906"/>
            <a:ext cx="995243" cy="1465302"/>
          </a:xfrm>
          <a:prstGeom prst="rect">
            <a:avLst/>
          </a:prstGeom>
        </p:spPr>
      </p:pic>
      <p:sp>
        <p:nvSpPr>
          <p:cNvPr id="9" name="Text 4"/>
          <p:cNvSpPr/>
          <p:nvPr/>
        </p:nvSpPr>
        <p:spPr>
          <a:xfrm>
            <a:off x="1890832" y="4782860"/>
            <a:ext cx="2977634" cy="31099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Aufstiegsfortbildungen</a:t>
            </a:r>
            <a:endParaRPr lang="en-US" sz="1950" dirty="0"/>
          </a:p>
        </p:txBody>
      </p:sp>
      <p:sp>
        <p:nvSpPr>
          <p:cNvPr id="10" name="Text 5"/>
          <p:cNvSpPr/>
          <p:nvPr/>
        </p:nvSpPr>
        <p:spPr>
          <a:xfrm>
            <a:off x="1890832" y="5213271"/>
            <a:ext cx="6556534" cy="636984"/>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Größere Abschlüsse, wie IT-Projektleiter oder Techniker, die fast wie ein Bachelor zählen und zu Führungspositionen qualifizieren.</a:t>
            </a:r>
            <a:endParaRPr lang="en-US" sz="1550" dirty="0"/>
          </a:p>
        </p:txBody>
      </p:sp>
      <p:pic>
        <p:nvPicPr>
          <p:cNvPr id="11" name="Image 3" descr="preencoded.png">    </p:cNvPr>
          <p:cNvPicPr>
            <a:picLocks noChangeAspect="1"/>
          </p:cNvPicPr>
          <p:nvPr/>
        </p:nvPicPr>
        <p:blipFill>
          <a:blip r:embed="rId4"/>
          <a:stretch>
            <a:fillRect/>
          </a:stretch>
        </p:blipFill>
        <p:spPr>
          <a:xfrm>
            <a:off x="696635" y="6049208"/>
            <a:ext cx="995243" cy="1465302"/>
          </a:xfrm>
          <a:prstGeom prst="rect">
            <a:avLst/>
          </a:prstGeom>
        </p:spPr>
      </p:pic>
      <p:sp>
        <p:nvSpPr>
          <p:cNvPr id="12" name="Text 6"/>
          <p:cNvSpPr/>
          <p:nvPr/>
        </p:nvSpPr>
        <p:spPr>
          <a:xfrm>
            <a:off x="1890832" y="6248162"/>
            <a:ext cx="2488049" cy="31099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Studium</a:t>
            </a:r>
            <a:endParaRPr lang="en-US" sz="1950" dirty="0"/>
          </a:p>
        </p:txBody>
      </p:sp>
      <p:sp>
        <p:nvSpPr>
          <p:cNvPr id="13" name="Text 7"/>
          <p:cNvSpPr/>
          <p:nvPr/>
        </p:nvSpPr>
        <p:spPr>
          <a:xfrm>
            <a:off x="1890832" y="6678573"/>
            <a:ext cx="6556534" cy="636984"/>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Zum Beispiel Informatik, oft auch dual, also Studium plus Arbeit im Betrieb, für eine akademische Vertiefung und Spezialisierung.</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2086" y="570309"/>
            <a:ext cx="7692628" cy="1295876"/>
          </a:xfrm>
          <a:prstGeom prst="rect">
            <a:avLst/>
          </a:prstGeom>
          <a:noFill/>
          <a:ln/>
        </p:spPr>
        <p:txBody>
          <a:bodyPr wrap="square" lIns="0" tIns="0" rIns="0" bIns="0" rtlCol="0" anchor="t"/>
          <a:lstStyle/>
          <a:p>
            <a:pPr algn="ctr" indent="0" marL="0">
              <a:lnSpc>
                <a:spcPts val="5100"/>
              </a:lnSpc>
              <a:buNone/>
            </a:pPr>
            <a:r>
              <a:rPr lang="en-US" sz="4050" b="1" dirty="0">
                <a:solidFill>
                  <a:srgbClr val="3B4540"/>
                </a:solidFill>
                <a:latin typeface="Fraunces Extra Bold" pitchFamily="34" charset="0"/>
                <a:ea typeface="Fraunces Extra Bold" pitchFamily="34" charset="-122"/>
                <a:cs typeface="Fraunces Extra Bold" pitchFamily="34" charset="-120"/>
              </a:rPr>
              <a:t>Arbeitsplatzgestaltung: Mehr als nur ein Job</a:t>
            </a:r>
            <a:endParaRPr lang="en-US" sz="4050" dirty="0"/>
          </a:p>
        </p:txBody>
      </p:sp>
      <p:sp>
        <p:nvSpPr>
          <p:cNvPr id="4" name="Text 1"/>
          <p:cNvSpPr/>
          <p:nvPr/>
        </p:nvSpPr>
        <p:spPr>
          <a:xfrm>
            <a:off x="6212086" y="2177177"/>
            <a:ext cx="7692628" cy="994767"/>
          </a:xfrm>
          <a:prstGeom prst="rect">
            <a:avLst/>
          </a:prstGeom>
          <a:noFill/>
          <a:ln/>
        </p:spPr>
        <p:txBody>
          <a:bodyPr wrap="square" lIns="0" tIns="0" rIns="0" bIns="0" rtlCol="0" anchor="t"/>
          <a:lstStyle/>
          <a:p>
            <a:pPr algn="ctr" indent="0" marL="0">
              <a:lnSpc>
                <a:spcPts val="2600"/>
              </a:lnSpc>
              <a:buNone/>
            </a:pPr>
            <a:r>
              <a:rPr lang="en-US" sz="1600" dirty="0">
                <a:solidFill>
                  <a:srgbClr val="405449"/>
                </a:solidFill>
                <a:latin typeface="Nobile" pitchFamily="34" charset="0"/>
                <a:ea typeface="Nobile" pitchFamily="34" charset="-122"/>
                <a:cs typeface="Nobile" pitchFamily="34" charset="-120"/>
              </a:rPr>
              <a:t>Damit der Job nicht langweilig wird, gibt es im Betrieb ein paar Methoden, um das Arbeitsleben interessanter oder bunter zu gestalten und die Motivation hochzuhalten.</a:t>
            </a:r>
            <a:endParaRPr lang="en-US" sz="1600" dirty="0"/>
          </a:p>
        </p:txBody>
      </p:sp>
      <p:sp>
        <p:nvSpPr>
          <p:cNvPr id="5" name="Shape 2"/>
          <p:cNvSpPr/>
          <p:nvPr/>
        </p:nvSpPr>
        <p:spPr>
          <a:xfrm>
            <a:off x="6212086" y="3405188"/>
            <a:ext cx="3742611" cy="2520791"/>
          </a:xfrm>
          <a:prstGeom prst="roundRect">
            <a:avLst>
              <a:gd name="adj" fmla="val 19741"/>
            </a:avLst>
          </a:prstGeom>
          <a:solidFill>
            <a:srgbClr val="4A644E"/>
          </a:solidFill>
          <a:ln/>
        </p:spPr>
      </p:sp>
      <p:sp>
        <p:nvSpPr>
          <p:cNvPr id="6" name="Text 3"/>
          <p:cNvSpPr/>
          <p:nvPr/>
        </p:nvSpPr>
        <p:spPr>
          <a:xfrm>
            <a:off x="6419374" y="3612475"/>
            <a:ext cx="2591753" cy="323969"/>
          </a:xfrm>
          <a:prstGeom prst="rect">
            <a:avLst/>
          </a:prstGeom>
          <a:noFill/>
          <a:ln/>
        </p:spPr>
        <p:txBody>
          <a:bodyPr wrap="none" lIns="0" tIns="0" rIns="0" bIns="0" rtlCol="0" anchor="t"/>
          <a:lstStyle/>
          <a:p>
            <a:pPr algn="l" indent="0" marL="0">
              <a:lnSpc>
                <a:spcPts val="2550"/>
              </a:lnSpc>
              <a:buNone/>
            </a:pPr>
            <a:r>
              <a:rPr lang="en-US" sz="2000" b="1" dirty="0">
                <a:solidFill>
                  <a:srgbClr val="FFFFFF"/>
                </a:solidFill>
                <a:latin typeface="Fraunces Extra Bold" pitchFamily="34" charset="0"/>
                <a:ea typeface="Fraunces Extra Bold" pitchFamily="34" charset="-122"/>
                <a:cs typeface="Fraunces Extra Bold" pitchFamily="34" charset="-120"/>
              </a:rPr>
              <a:t>Jobrotation</a:t>
            </a:r>
            <a:endParaRPr lang="en-US" sz="2000" dirty="0"/>
          </a:p>
        </p:txBody>
      </p:sp>
      <p:sp>
        <p:nvSpPr>
          <p:cNvPr id="7" name="Text 4"/>
          <p:cNvSpPr/>
          <p:nvPr/>
        </p:nvSpPr>
        <p:spPr>
          <a:xfrm>
            <a:off x="6419374" y="4060746"/>
            <a:ext cx="3328035" cy="1657945"/>
          </a:xfrm>
          <a:prstGeom prst="rect">
            <a:avLst/>
          </a:prstGeom>
          <a:noFill/>
          <a:ln/>
        </p:spPr>
        <p:txBody>
          <a:bodyPr wrap="square" lIns="0" tIns="0" rIns="0" bIns="0" rtlCol="0" anchor="t"/>
          <a:lstStyle/>
          <a:p>
            <a:pPr algn="l" indent="0" marL="0">
              <a:lnSpc>
                <a:spcPts val="2600"/>
              </a:lnSpc>
              <a:buNone/>
            </a:pPr>
            <a:r>
              <a:rPr lang="en-US" sz="1600" dirty="0">
                <a:solidFill>
                  <a:srgbClr val="FFFFFF"/>
                </a:solidFill>
                <a:latin typeface="Nobile" pitchFamily="34" charset="0"/>
                <a:ea typeface="Nobile" pitchFamily="34" charset="-122"/>
                <a:cs typeface="Nobile" pitchFamily="34" charset="-120"/>
              </a:rPr>
              <a:t>Man wechselt regelmäßig die Abteilung und lernt viel Neues kennen, was den Horizont erweitert und neue Perspektiven schafft.</a:t>
            </a:r>
            <a:endParaRPr lang="en-US" sz="1600" dirty="0"/>
          </a:p>
        </p:txBody>
      </p:sp>
      <p:sp>
        <p:nvSpPr>
          <p:cNvPr id="8" name="Shape 5"/>
          <p:cNvSpPr/>
          <p:nvPr/>
        </p:nvSpPr>
        <p:spPr>
          <a:xfrm>
            <a:off x="10161984" y="3405188"/>
            <a:ext cx="3742730" cy="2520791"/>
          </a:xfrm>
          <a:prstGeom prst="roundRect">
            <a:avLst>
              <a:gd name="adj" fmla="val 19741"/>
            </a:avLst>
          </a:prstGeom>
          <a:solidFill>
            <a:srgbClr val="4A644E"/>
          </a:solidFill>
          <a:ln/>
        </p:spPr>
      </p:sp>
      <p:sp>
        <p:nvSpPr>
          <p:cNvPr id="9" name="Text 6"/>
          <p:cNvSpPr/>
          <p:nvPr/>
        </p:nvSpPr>
        <p:spPr>
          <a:xfrm>
            <a:off x="10369272" y="3612475"/>
            <a:ext cx="2591753" cy="323969"/>
          </a:xfrm>
          <a:prstGeom prst="rect">
            <a:avLst/>
          </a:prstGeom>
          <a:noFill/>
          <a:ln/>
        </p:spPr>
        <p:txBody>
          <a:bodyPr wrap="none" lIns="0" tIns="0" rIns="0" bIns="0" rtlCol="0" anchor="t"/>
          <a:lstStyle/>
          <a:p>
            <a:pPr algn="l" indent="0" marL="0">
              <a:lnSpc>
                <a:spcPts val="2550"/>
              </a:lnSpc>
              <a:buNone/>
            </a:pPr>
            <a:r>
              <a:rPr lang="en-US" sz="2000" b="1" dirty="0">
                <a:solidFill>
                  <a:srgbClr val="FFFFFF"/>
                </a:solidFill>
                <a:latin typeface="Fraunces Extra Bold" pitchFamily="34" charset="0"/>
                <a:ea typeface="Fraunces Extra Bold" pitchFamily="34" charset="-122"/>
                <a:cs typeface="Fraunces Extra Bold" pitchFamily="34" charset="-120"/>
              </a:rPr>
              <a:t>Jobenlargement</a:t>
            </a:r>
            <a:endParaRPr lang="en-US" sz="2000" dirty="0"/>
          </a:p>
        </p:txBody>
      </p:sp>
      <p:sp>
        <p:nvSpPr>
          <p:cNvPr id="10" name="Text 7"/>
          <p:cNvSpPr/>
          <p:nvPr/>
        </p:nvSpPr>
        <p:spPr>
          <a:xfrm>
            <a:off x="10369272" y="4060746"/>
            <a:ext cx="3328154" cy="1326356"/>
          </a:xfrm>
          <a:prstGeom prst="rect">
            <a:avLst/>
          </a:prstGeom>
          <a:noFill/>
          <a:ln/>
        </p:spPr>
        <p:txBody>
          <a:bodyPr wrap="square" lIns="0" tIns="0" rIns="0" bIns="0" rtlCol="0" anchor="t"/>
          <a:lstStyle/>
          <a:p>
            <a:pPr algn="l" indent="0" marL="0">
              <a:lnSpc>
                <a:spcPts val="2600"/>
              </a:lnSpc>
              <a:buNone/>
            </a:pPr>
            <a:r>
              <a:rPr lang="en-US" sz="1600" dirty="0">
                <a:solidFill>
                  <a:srgbClr val="FFFFFF"/>
                </a:solidFill>
                <a:latin typeface="Nobile" pitchFamily="34" charset="0"/>
                <a:ea typeface="Nobile" pitchFamily="34" charset="-122"/>
                <a:cs typeface="Nobile" pitchFamily="34" charset="-120"/>
              </a:rPr>
              <a:t>Man bekommt mehr Aufgaben auf dem gleichen Level, also mehr Abwechslung und eine breitere Aufgabenpalette.</a:t>
            </a:r>
            <a:endParaRPr lang="en-US" sz="1600" dirty="0"/>
          </a:p>
        </p:txBody>
      </p:sp>
      <p:sp>
        <p:nvSpPr>
          <p:cNvPr id="11" name="Shape 8"/>
          <p:cNvSpPr/>
          <p:nvPr/>
        </p:nvSpPr>
        <p:spPr>
          <a:xfrm>
            <a:off x="6212086" y="6133267"/>
            <a:ext cx="7692628" cy="1526024"/>
          </a:xfrm>
          <a:prstGeom prst="roundRect">
            <a:avLst>
              <a:gd name="adj" fmla="val 32609"/>
            </a:avLst>
          </a:prstGeom>
          <a:solidFill>
            <a:srgbClr val="4A644E"/>
          </a:solidFill>
          <a:ln/>
        </p:spPr>
      </p:sp>
      <p:sp>
        <p:nvSpPr>
          <p:cNvPr id="12" name="Text 9"/>
          <p:cNvSpPr/>
          <p:nvPr/>
        </p:nvSpPr>
        <p:spPr>
          <a:xfrm>
            <a:off x="6419374" y="6340554"/>
            <a:ext cx="2591753" cy="323969"/>
          </a:xfrm>
          <a:prstGeom prst="rect">
            <a:avLst/>
          </a:prstGeom>
          <a:noFill/>
          <a:ln/>
        </p:spPr>
        <p:txBody>
          <a:bodyPr wrap="none" lIns="0" tIns="0" rIns="0" bIns="0" rtlCol="0" anchor="t"/>
          <a:lstStyle/>
          <a:p>
            <a:pPr algn="l" indent="0" marL="0">
              <a:lnSpc>
                <a:spcPts val="2550"/>
              </a:lnSpc>
              <a:buNone/>
            </a:pPr>
            <a:r>
              <a:rPr lang="en-US" sz="2000" b="1" dirty="0">
                <a:solidFill>
                  <a:srgbClr val="FFFFFF"/>
                </a:solidFill>
                <a:latin typeface="Fraunces Extra Bold" pitchFamily="34" charset="0"/>
                <a:ea typeface="Fraunces Extra Bold" pitchFamily="34" charset="-122"/>
                <a:cs typeface="Fraunces Extra Bold" pitchFamily="34" charset="-120"/>
              </a:rPr>
              <a:t>Jobenrichment</a:t>
            </a:r>
            <a:endParaRPr lang="en-US" sz="2000" dirty="0"/>
          </a:p>
        </p:txBody>
      </p:sp>
      <p:sp>
        <p:nvSpPr>
          <p:cNvPr id="13" name="Text 10"/>
          <p:cNvSpPr/>
          <p:nvPr/>
        </p:nvSpPr>
        <p:spPr>
          <a:xfrm>
            <a:off x="6419374" y="6788825"/>
            <a:ext cx="7278053" cy="663178"/>
          </a:xfrm>
          <a:prstGeom prst="rect">
            <a:avLst/>
          </a:prstGeom>
          <a:noFill/>
          <a:ln/>
        </p:spPr>
        <p:txBody>
          <a:bodyPr wrap="square" lIns="0" tIns="0" rIns="0" bIns="0" rtlCol="0" anchor="t"/>
          <a:lstStyle/>
          <a:p>
            <a:pPr algn="l" indent="0" marL="0">
              <a:lnSpc>
                <a:spcPts val="2600"/>
              </a:lnSpc>
              <a:buNone/>
            </a:pPr>
            <a:r>
              <a:rPr lang="en-US" sz="1600" dirty="0">
                <a:solidFill>
                  <a:srgbClr val="FFFFFF"/>
                </a:solidFill>
                <a:latin typeface="Nobile" pitchFamily="34" charset="0"/>
                <a:ea typeface="Nobile" pitchFamily="34" charset="-122"/>
                <a:cs typeface="Nobile" pitchFamily="34" charset="-120"/>
              </a:rPr>
              <a:t>Man bekommt anspruchsvollere Aufgaben mit mehr Verantwortung, was die persönliche Entwicklung fördert und die Zufriedenheit steigert.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1890" y="684967"/>
            <a:ext cx="12966502" cy="646509"/>
          </a:xfrm>
          <a:prstGeom prst="rect">
            <a:avLst/>
          </a:prstGeom>
          <a:noFill/>
          <a:ln/>
        </p:spPr>
        <p:txBody>
          <a:bodyPr wrap="none" lIns="0" tIns="0" rIns="0" bIns="0" rtlCol="0" anchor="t"/>
          <a:lstStyle/>
          <a:p>
            <a:pPr algn="ctr" indent="0" marL="0">
              <a:lnSpc>
                <a:spcPts val="5050"/>
              </a:lnSpc>
              <a:buNone/>
            </a:pPr>
            <a:r>
              <a:rPr lang="en-US" sz="4050" b="1" dirty="0">
                <a:solidFill>
                  <a:srgbClr val="3B4540"/>
                </a:solidFill>
                <a:latin typeface="Fraunces Extra Bold" pitchFamily="34" charset="0"/>
                <a:ea typeface="Fraunces Extra Bold" pitchFamily="34" charset="-122"/>
                <a:cs typeface="Fraunces Extra Bold" pitchFamily="34" charset="-120"/>
              </a:rPr>
              <a:t>Ihr Weg zum Erfolg: Sicher, Lernbereit, Engagiert</a:t>
            </a:r>
            <a:endParaRPr lang="en-US" sz="4050" dirty="0"/>
          </a:p>
        </p:txBody>
      </p:sp>
      <p:sp>
        <p:nvSpPr>
          <p:cNvPr id="3" name="Text 1"/>
          <p:cNvSpPr/>
          <p:nvPr/>
        </p:nvSpPr>
        <p:spPr>
          <a:xfrm>
            <a:off x="724019" y="1745218"/>
            <a:ext cx="13182362" cy="661988"/>
          </a:xfrm>
          <a:prstGeom prst="rect">
            <a:avLst/>
          </a:prstGeom>
          <a:noFill/>
          <a:ln/>
        </p:spPr>
        <p:txBody>
          <a:bodyPr wrap="square" lIns="0" tIns="0" rIns="0" bIns="0" rtlCol="0" anchor="t"/>
          <a:lstStyle/>
          <a:p>
            <a:pPr algn="ctr" indent="0" marL="0">
              <a:lnSpc>
                <a:spcPts val="2600"/>
              </a:lnSpc>
              <a:buNone/>
            </a:pPr>
            <a:r>
              <a:rPr lang="en-US" sz="1600" dirty="0">
                <a:solidFill>
                  <a:srgbClr val="405449"/>
                </a:solidFill>
                <a:latin typeface="Nobile" pitchFamily="34" charset="0"/>
                <a:ea typeface="Nobile" pitchFamily="34" charset="-122"/>
                <a:cs typeface="Nobile" pitchFamily="34" charset="-120"/>
              </a:rPr>
              <a:t>Zusammenfassend lässt sich sagen, dass Ihr Berufsleben in Deutschland auf drei wichtigen Säulen ruht, die Ihnen Sicherheit, Entwicklung und Zufriedenheit bieten.</a:t>
            </a:r>
            <a:endParaRPr lang="en-US" sz="1600" dirty="0"/>
          </a:p>
        </p:txBody>
      </p:sp>
      <p:pic>
        <p:nvPicPr>
          <p:cNvPr id="4" name="Image 0" descr="preencoded.png">    </p:cNvPr>
          <p:cNvPicPr>
            <a:picLocks noChangeAspect="1"/>
          </p:cNvPicPr>
          <p:nvPr/>
        </p:nvPicPr>
        <p:blipFill>
          <a:blip r:embed="rId1"/>
          <a:stretch>
            <a:fillRect/>
          </a:stretch>
        </p:blipFill>
        <p:spPr>
          <a:xfrm>
            <a:off x="2932033" y="2639854"/>
            <a:ext cx="2175034" cy="1191935"/>
          </a:xfrm>
          <a:prstGeom prst="rect">
            <a:avLst/>
          </a:prstGeom>
        </p:spPr>
      </p:pic>
      <p:sp>
        <p:nvSpPr>
          <p:cNvPr id="5" name="Text 2"/>
          <p:cNvSpPr/>
          <p:nvPr/>
        </p:nvSpPr>
        <p:spPr>
          <a:xfrm>
            <a:off x="3874056" y="3201710"/>
            <a:ext cx="290870" cy="363617"/>
          </a:xfrm>
          <a:prstGeom prst="rect">
            <a:avLst/>
          </a:prstGeom>
          <a:noFill/>
          <a:ln/>
        </p:spPr>
        <p:txBody>
          <a:bodyPr wrap="none" lIns="0" tIns="0" rIns="0" bIns="0" rtlCol="0" anchor="t"/>
          <a:lstStyle/>
          <a:p>
            <a:pPr algn="ctr" indent="0" marL="0">
              <a:lnSpc>
                <a:spcPts val="3650"/>
              </a:lnSpc>
              <a:buNone/>
            </a:pPr>
            <a:r>
              <a:rPr lang="en-US" sz="2250" b="1" dirty="0">
                <a:solidFill>
                  <a:srgbClr val="405449"/>
                </a:solidFill>
                <a:latin typeface="Fraunces Extra Bold" pitchFamily="34" charset="0"/>
                <a:ea typeface="Fraunces Extra Bold" pitchFamily="34" charset="-122"/>
                <a:cs typeface="Fraunces Extra Bold" pitchFamily="34" charset="-120"/>
              </a:rPr>
              <a:t>1</a:t>
            </a:r>
            <a:endParaRPr lang="en-US" sz="2250" dirty="0"/>
          </a:p>
        </p:txBody>
      </p:sp>
      <p:sp>
        <p:nvSpPr>
          <p:cNvPr id="6" name="Text 3"/>
          <p:cNvSpPr/>
          <p:nvPr/>
        </p:nvSpPr>
        <p:spPr>
          <a:xfrm>
            <a:off x="5313878" y="2846665"/>
            <a:ext cx="3025021" cy="323255"/>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Arbeitsplatzgestaltung</a:t>
            </a:r>
            <a:endParaRPr lang="en-US" sz="2000" dirty="0"/>
          </a:p>
        </p:txBody>
      </p:sp>
      <p:sp>
        <p:nvSpPr>
          <p:cNvPr id="7" name="Text 4"/>
          <p:cNvSpPr/>
          <p:nvPr/>
        </p:nvSpPr>
        <p:spPr>
          <a:xfrm>
            <a:off x="5313878" y="3293983"/>
            <a:ext cx="3081576" cy="330994"/>
          </a:xfrm>
          <a:prstGeom prst="rect">
            <a:avLst/>
          </a:prstGeom>
          <a:noFill/>
          <a:ln/>
        </p:spPr>
        <p:txBody>
          <a:bodyPr wrap="none" lIns="0" tIns="0" rIns="0" bIns="0" rtlCol="0" anchor="t"/>
          <a:lstStyle/>
          <a:p>
            <a:pPr algn="l" indent="0" marL="0">
              <a:lnSpc>
                <a:spcPts val="2600"/>
              </a:lnSpc>
              <a:buNone/>
            </a:pPr>
            <a:r>
              <a:rPr lang="en-US" sz="1600" dirty="0">
                <a:solidFill>
                  <a:srgbClr val="405449"/>
                </a:solidFill>
                <a:latin typeface="Nobile" pitchFamily="34" charset="0"/>
                <a:ea typeface="Nobile" pitchFamily="34" charset="-122"/>
                <a:cs typeface="Nobile" pitchFamily="34" charset="-120"/>
              </a:rPr>
              <a:t>Abwechslung &amp; Verantwortung</a:t>
            </a:r>
            <a:endParaRPr lang="en-US" sz="1600" dirty="0"/>
          </a:p>
        </p:txBody>
      </p:sp>
      <p:sp>
        <p:nvSpPr>
          <p:cNvPr id="8" name="Shape 5"/>
          <p:cNvSpPr/>
          <p:nvPr/>
        </p:nvSpPr>
        <p:spPr>
          <a:xfrm>
            <a:off x="5158740" y="3848100"/>
            <a:ext cx="8695968" cy="11430"/>
          </a:xfrm>
          <a:prstGeom prst="roundRect">
            <a:avLst>
              <a:gd name="adj" fmla="val 1629072"/>
            </a:avLst>
          </a:prstGeom>
          <a:solidFill>
            <a:srgbClr val="CED9CE"/>
          </a:solidFill>
          <a:ln/>
        </p:spPr>
      </p:sp>
      <p:pic>
        <p:nvPicPr>
          <p:cNvPr id="9" name="Image 1" descr="preencoded.png">    </p:cNvPr>
          <p:cNvPicPr>
            <a:picLocks noChangeAspect="1"/>
          </p:cNvPicPr>
          <p:nvPr/>
        </p:nvPicPr>
        <p:blipFill>
          <a:blip r:embed="rId2"/>
          <a:stretch>
            <a:fillRect/>
          </a:stretch>
        </p:blipFill>
        <p:spPr>
          <a:xfrm>
            <a:off x="1844516" y="3883462"/>
            <a:ext cx="4350068" cy="1191935"/>
          </a:xfrm>
          <a:prstGeom prst="rect">
            <a:avLst/>
          </a:prstGeom>
        </p:spPr>
      </p:pic>
      <p:sp>
        <p:nvSpPr>
          <p:cNvPr id="10" name="Text 6"/>
          <p:cNvSpPr/>
          <p:nvPr/>
        </p:nvSpPr>
        <p:spPr>
          <a:xfrm>
            <a:off x="3874056" y="4297561"/>
            <a:ext cx="290870" cy="363617"/>
          </a:xfrm>
          <a:prstGeom prst="rect">
            <a:avLst/>
          </a:prstGeom>
          <a:noFill/>
          <a:ln/>
        </p:spPr>
        <p:txBody>
          <a:bodyPr wrap="none" lIns="0" tIns="0" rIns="0" bIns="0" rtlCol="0" anchor="t"/>
          <a:lstStyle/>
          <a:p>
            <a:pPr algn="ctr" indent="0" marL="0">
              <a:lnSpc>
                <a:spcPts val="3650"/>
              </a:lnSpc>
              <a:buNone/>
            </a:pPr>
            <a:r>
              <a:rPr lang="en-US" sz="2250" b="1" dirty="0">
                <a:solidFill>
                  <a:srgbClr val="405449"/>
                </a:solidFill>
                <a:latin typeface="Fraunces Extra Bold" pitchFamily="34" charset="0"/>
                <a:ea typeface="Fraunces Extra Bold" pitchFamily="34" charset="-122"/>
                <a:cs typeface="Fraunces Extra Bold" pitchFamily="34" charset="-120"/>
              </a:rPr>
              <a:t>2</a:t>
            </a:r>
            <a:endParaRPr lang="en-US" sz="2250" dirty="0"/>
          </a:p>
        </p:txBody>
      </p:sp>
      <p:sp>
        <p:nvSpPr>
          <p:cNvPr id="11" name="Text 7"/>
          <p:cNvSpPr/>
          <p:nvPr/>
        </p:nvSpPr>
        <p:spPr>
          <a:xfrm>
            <a:off x="6401395" y="4090273"/>
            <a:ext cx="2766179" cy="323255"/>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Lebenslanges Lernen</a:t>
            </a:r>
            <a:endParaRPr lang="en-US" sz="2000" dirty="0"/>
          </a:p>
        </p:txBody>
      </p:sp>
      <p:sp>
        <p:nvSpPr>
          <p:cNvPr id="12" name="Text 8"/>
          <p:cNvSpPr/>
          <p:nvPr/>
        </p:nvSpPr>
        <p:spPr>
          <a:xfrm>
            <a:off x="6401395" y="4537591"/>
            <a:ext cx="2766179" cy="330994"/>
          </a:xfrm>
          <a:prstGeom prst="rect">
            <a:avLst/>
          </a:prstGeom>
          <a:noFill/>
          <a:ln/>
        </p:spPr>
        <p:txBody>
          <a:bodyPr wrap="none" lIns="0" tIns="0" rIns="0" bIns="0" rtlCol="0" anchor="t"/>
          <a:lstStyle/>
          <a:p>
            <a:pPr algn="l" indent="0" marL="0">
              <a:lnSpc>
                <a:spcPts val="2600"/>
              </a:lnSpc>
              <a:buNone/>
            </a:pPr>
            <a:r>
              <a:rPr lang="en-US" sz="1600" dirty="0">
                <a:solidFill>
                  <a:srgbClr val="405449"/>
                </a:solidFill>
                <a:latin typeface="Nobile" pitchFamily="34" charset="0"/>
                <a:ea typeface="Nobile" pitchFamily="34" charset="-122"/>
                <a:cs typeface="Nobile" pitchFamily="34" charset="-120"/>
              </a:rPr>
              <a:t>Anpassung &amp; Aufstieg</a:t>
            </a:r>
            <a:endParaRPr lang="en-US" sz="1600" dirty="0"/>
          </a:p>
        </p:txBody>
      </p:sp>
      <p:sp>
        <p:nvSpPr>
          <p:cNvPr id="13" name="Shape 9"/>
          <p:cNvSpPr/>
          <p:nvPr/>
        </p:nvSpPr>
        <p:spPr>
          <a:xfrm>
            <a:off x="6246257" y="5091708"/>
            <a:ext cx="7608451" cy="11430"/>
          </a:xfrm>
          <a:prstGeom prst="roundRect">
            <a:avLst>
              <a:gd name="adj" fmla="val 1629072"/>
            </a:avLst>
          </a:prstGeom>
          <a:solidFill>
            <a:srgbClr val="CED9CE"/>
          </a:solidFill>
          <a:ln/>
        </p:spPr>
      </p:sp>
      <p:pic>
        <p:nvPicPr>
          <p:cNvPr id="14" name="Image 2" descr="preencoded.png">    </p:cNvPr>
          <p:cNvPicPr>
            <a:picLocks noChangeAspect="1"/>
          </p:cNvPicPr>
          <p:nvPr/>
        </p:nvPicPr>
        <p:blipFill>
          <a:blip r:embed="rId3"/>
          <a:stretch>
            <a:fillRect/>
          </a:stretch>
        </p:blipFill>
        <p:spPr>
          <a:xfrm>
            <a:off x="756880" y="5127069"/>
            <a:ext cx="6525220" cy="1191935"/>
          </a:xfrm>
          <a:prstGeom prst="rect">
            <a:avLst/>
          </a:prstGeom>
        </p:spPr>
      </p:pic>
      <p:sp>
        <p:nvSpPr>
          <p:cNvPr id="15" name="Text 10"/>
          <p:cNvSpPr/>
          <p:nvPr/>
        </p:nvSpPr>
        <p:spPr>
          <a:xfrm>
            <a:off x="3874056" y="5541169"/>
            <a:ext cx="290870" cy="363617"/>
          </a:xfrm>
          <a:prstGeom prst="rect">
            <a:avLst/>
          </a:prstGeom>
          <a:noFill/>
          <a:ln/>
        </p:spPr>
        <p:txBody>
          <a:bodyPr wrap="none" lIns="0" tIns="0" rIns="0" bIns="0" rtlCol="0" anchor="t"/>
          <a:lstStyle/>
          <a:p>
            <a:pPr algn="ctr" indent="0" marL="0">
              <a:lnSpc>
                <a:spcPts val="3650"/>
              </a:lnSpc>
              <a:buNone/>
            </a:pPr>
            <a:r>
              <a:rPr lang="en-US" sz="2250" b="1" dirty="0">
                <a:solidFill>
                  <a:srgbClr val="405449"/>
                </a:solidFill>
                <a:latin typeface="Fraunces Extra Bold" pitchFamily="34" charset="0"/>
                <a:ea typeface="Fraunces Extra Bold" pitchFamily="34" charset="-122"/>
                <a:cs typeface="Fraunces Extra Bold" pitchFamily="34" charset="-120"/>
              </a:rPr>
              <a:t>3</a:t>
            </a:r>
            <a:endParaRPr lang="en-US" sz="2250" dirty="0"/>
          </a:p>
        </p:txBody>
      </p:sp>
      <p:sp>
        <p:nvSpPr>
          <p:cNvPr id="16" name="Text 11"/>
          <p:cNvSpPr/>
          <p:nvPr/>
        </p:nvSpPr>
        <p:spPr>
          <a:xfrm>
            <a:off x="7488912" y="5333881"/>
            <a:ext cx="2329696" cy="323255"/>
          </a:xfrm>
          <a:prstGeom prst="rect">
            <a:avLst/>
          </a:prstGeom>
          <a:noFill/>
          <a:ln/>
        </p:spPr>
        <p:txBody>
          <a:bodyPr wrap="none" lIns="0" tIns="0" rIns="0" bIns="0" rtlCol="0" anchor="t"/>
          <a:lstStyle/>
          <a:p>
            <a:pPr algn="l" indent="0" marL="0">
              <a:lnSpc>
                <a:spcPts val="2500"/>
              </a:lnSpc>
              <a:buNone/>
            </a:pPr>
            <a:r>
              <a:rPr lang="en-US" sz="2000" b="1" dirty="0">
                <a:solidFill>
                  <a:srgbClr val="405449"/>
                </a:solidFill>
                <a:latin typeface="Fraunces Extra Bold" pitchFamily="34" charset="0"/>
                <a:ea typeface="Fraunces Extra Bold" pitchFamily="34" charset="-122"/>
                <a:cs typeface="Fraunces Extra Bold" pitchFamily="34" charset="-120"/>
              </a:rPr>
              <a:t>Soziale Sicherung</a:t>
            </a:r>
            <a:endParaRPr lang="en-US" sz="2000" dirty="0"/>
          </a:p>
        </p:txBody>
      </p:sp>
      <p:sp>
        <p:nvSpPr>
          <p:cNvPr id="17" name="Text 12"/>
          <p:cNvSpPr/>
          <p:nvPr/>
        </p:nvSpPr>
        <p:spPr>
          <a:xfrm>
            <a:off x="7488912" y="5781199"/>
            <a:ext cx="2329696" cy="330994"/>
          </a:xfrm>
          <a:prstGeom prst="rect">
            <a:avLst/>
          </a:prstGeom>
          <a:noFill/>
          <a:ln/>
        </p:spPr>
        <p:txBody>
          <a:bodyPr wrap="none" lIns="0" tIns="0" rIns="0" bIns="0" rtlCol="0" anchor="t"/>
          <a:lstStyle/>
          <a:p>
            <a:pPr algn="l" indent="0" marL="0">
              <a:lnSpc>
                <a:spcPts val="2600"/>
              </a:lnSpc>
              <a:buNone/>
            </a:pPr>
            <a:r>
              <a:rPr lang="en-US" sz="1600" dirty="0">
                <a:solidFill>
                  <a:srgbClr val="405449"/>
                </a:solidFill>
                <a:latin typeface="Nobile" pitchFamily="34" charset="0"/>
                <a:ea typeface="Nobile" pitchFamily="34" charset="-122"/>
                <a:cs typeface="Nobile" pitchFamily="34" charset="-120"/>
              </a:rPr>
              <a:t>Schutz &amp; Stabilität</a:t>
            </a:r>
            <a:endParaRPr lang="en-US" sz="1600" dirty="0"/>
          </a:p>
        </p:txBody>
      </p:sp>
      <p:sp>
        <p:nvSpPr>
          <p:cNvPr id="18" name="Text 13"/>
          <p:cNvSpPr/>
          <p:nvPr/>
        </p:nvSpPr>
        <p:spPr>
          <a:xfrm>
            <a:off x="724019" y="6551652"/>
            <a:ext cx="13182362" cy="992981"/>
          </a:xfrm>
          <a:prstGeom prst="rect">
            <a:avLst/>
          </a:prstGeom>
          <a:noFill/>
          <a:ln/>
        </p:spPr>
        <p:txBody>
          <a:bodyPr wrap="square" lIns="0" tIns="0" rIns="0" bIns="0" rtlCol="0" anchor="t"/>
          <a:lstStyle/>
          <a:p>
            <a:pPr algn="ctr" indent="0" marL="0">
              <a:lnSpc>
                <a:spcPts val="2600"/>
              </a:lnSpc>
              <a:buNone/>
            </a:pPr>
            <a:r>
              <a:rPr lang="en-US" sz="1600" dirty="0">
                <a:solidFill>
                  <a:srgbClr val="405449"/>
                </a:solidFill>
                <a:latin typeface="Nobile" pitchFamily="34" charset="0"/>
                <a:ea typeface="Nobile" pitchFamily="34" charset="-122"/>
                <a:cs typeface="Nobile" pitchFamily="34" charset="-120"/>
              </a:rPr>
              <a:t>Die Sozialversicherung schützt dich vor großen Risiken, in der IT musst du immer dazulernen, und durch verschiedene Arbeitsmodelle bleibt dein Job abwechslungsreich. Diese Elemente bilden gemeinsam ein starkes Fundament für eine erfolgreiche und erfüllende berufliche Laufbahn.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2025-09-15T12:19:04Z</dcterms:created>
  <dcterms:modified xsi:type="dcterms:W3CDTF">2025-09-15T12:19:04Z</dcterms:modified>
</cp:coreProperties>
</file>