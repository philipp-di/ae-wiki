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Host Grotesk Medium" panose="020B0604020202020204" charset="0"/>
      <p:regular r:id="rId11"/>
    </p:embeddedFont>
    <p:embeddedFont>
      <p:font typeface="Roboto" panose="02000000000000000000" pitchFamily="2" charset="0"/>
      <p:regular r:id="rId12"/>
      <p:bold r:id="rId1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751" autoAdjust="0"/>
  </p:normalViewPr>
  <p:slideViewPr>
    <p:cSldViewPr snapToGrid="0" snapToObjects="1">
      <p:cViewPr varScale="1">
        <p:scale>
          <a:sx n="57" d="100"/>
          <a:sy n="57" d="100"/>
        </p:scale>
        <p:origin x="1214" y="58"/>
      </p:cViewPr>
      <p:guideLst/>
    </p:cSldViewPr>
  </p:slideViewPr>
  <p:notesTextViewPr>
    <p:cViewPr>
      <p:scale>
        <a:sx n="1" d="1"/>
        <a:sy n="1" d="1"/>
      </p:scale>
      <p:origin x="0" y="-12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62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30 Werktage —&gt; unter 16-jährige     </a:t>
            </a:r>
            <a:r>
              <a:rPr lang="de-DE" dirty="0">
                <a:effectLst/>
              </a:rPr>
              <a:t>Eine Pause darf frühstens </a:t>
            </a:r>
            <a:r>
              <a:rPr lang="de-DE" b="1" dirty="0">
                <a:effectLst/>
              </a:rPr>
              <a:t>—&gt;</a:t>
            </a:r>
            <a:r>
              <a:rPr lang="de-DE" dirty="0">
                <a:effectLst/>
              </a:rPr>
              <a:t> </a:t>
            </a:r>
            <a:r>
              <a:rPr lang="de-DE" b="1" dirty="0">
                <a:effectLst/>
              </a:rPr>
              <a:t>nach 1 Std.</a:t>
            </a:r>
            <a:endParaRPr lang="de-DE" dirty="0"/>
          </a:p>
          <a:p>
            <a:r>
              <a:rPr lang="de-DE" dirty="0">
                <a:effectLst/>
              </a:rPr>
              <a:t>und spätestens </a:t>
            </a:r>
            <a:r>
              <a:rPr lang="de-DE" b="1" dirty="0">
                <a:effectLst/>
              </a:rPr>
              <a:t>—&gt; nach 4,5 Std.</a:t>
            </a:r>
            <a:endParaRPr lang="de-DE" dirty="0"/>
          </a:p>
          <a:p>
            <a:r>
              <a:rPr lang="de-DE" b="1" dirty="0">
                <a:effectLst/>
              </a:rPr>
              <a:t>4,5 - 6 Std. —&gt; 30 min. Pause</a:t>
            </a:r>
            <a:endParaRPr lang="de-DE" dirty="0"/>
          </a:p>
          <a:p>
            <a:r>
              <a:rPr lang="de-DE" b="1" dirty="0">
                <a:effectLst/>
              </a:rPr>
              <a:t>mehr als 6 St. —&gt; 60 min. Pause                   🡪      45 min.</a:t>
            </a:r>
            <a:endParaRPr lang="de-DE" dirty="0"/>
          </a:p>
          <a:p>
            <a:endParaRPr lang="de-DE" dirty="0"/>
          </a:p>
          <a:p>
            <a:r>
              <a:rPr lang="de-DE" b="1" dirty="0">
                <a:effectLst/>
              </a:rPr>
              <a:t>27 Werktage —&gt; unter 17-jährige</a:t>
            </a:r>
            <a:endParaRPr lang="de-DE" dirty="0"/>
          </a:p>
          <a:p>
            <a:r>
              <a:rPr lang="de-DE" b="1" dirty="0">
                <a:effectLst/>
              </a:rPr>
              <a:t>25 Werktage —&gt; unter 18-jährige</a:t>
            </a:r>
            <a:endParaRPr lang="de-D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 diesem Slide sehen wir das duale Ausbildungssystem und seine Hauptakteure.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Ausbildungsbetrieb: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Betrieb stellt Ausbildungsplätze bereit, führt die praktische Ausbildung durch, zahlt die Ausbildungsvergütung und übernimmt die Fürsorgepflicht für die Auszubildenden.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Berufsschule: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Berufsschule vermittelt theoretische Grundlagen sowie allgemeinbildende Inhalte. Sie bereitet die Auszubildenden auf die Abschlussprüfungen vor und arbeitet eng mit den Ausbildungsbetrieben zusammen.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Zuständige Kammer (IHK/HWK):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IHK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steht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Industrie- und Handelskammer. Sie überwacht die Ausbildungsqualität, führt Prüfungen durch, registriert Ausbildungsverträge und berät Betriebe sowie Auszubildende.</a:t>
            </a:r>
          </a:p>
          <a:p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HWK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steht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Handwerkskammer. Sie übernimmt ähnliche Aufgaben, jedoch speziell für handwerkliche und technische Berufe.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Zusammenarbeit: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Diese drei Akteure arbeiten eng zusammen, um eine qualitativ hochwertige Ausbildung zu gewährleisten und Theorie und Praxis optimal zu verbinden.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95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Berufsausbildung: Grundlagen und Rechte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5343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 umfassende Übersicht über die wichtigsten Aspekte der beruflichen Ausbildung in Deutschland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829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Berufsausbildungsvertrag – Grundlagen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40643"/>
            <a:ext cx="3664744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514624" y="3475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Schriftlicher Vertrag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65496"/>
            <a:ext cx="31958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Schriftlicher Vertrag zwischen Auszubildendem &amp; Betrieb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240643"/>
            <a:ext cx="3664863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10406182" y="3475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Regelungen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965496"/>
            <a:ext cx="319599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Regelt: </a:t>
            </a:r>
            <a:r>
              <a:rPr lang="en-US" sz="1750" b="1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Dauer, Ausbildungsinhalte, Vergütung, Arbeitszeiten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47228"/>
            <a:ext cx="7556421" cy="1299448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514624" y="56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Probezeit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72081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Probezeit: max. 4 Monate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6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Berufsausbildungsvertrag – Pflichten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527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Pflichten Auszubildender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718923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Lernen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38380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Sorgfalt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57838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Betriebsordnung einhalten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Pflichten Ausbilder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Ausbildung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713089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Anleitung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132546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Fürsorge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232446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Kündigungsmöglichkeiten während Probezeit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21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Arbeitsrecht – Schutz der Arbeitnehmer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79840"/>
            <a:ext cx="3664744" cy="1223248"/>
          </a:xfrm>
          <a:prstGeom prst="roundRect">
            <a:avLst>
              <a:gd name="adj" fmla="val 11960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3479840"/>
            <a:ext cx="121920" cy="12232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924" y="3737134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Arbeitszeiten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10171748" y="3479840"/>
            <a:ext cx="3664863" cy="1223248"/>
          </a:xfrm>
          <a:prstGeom prst="roundRect">
            <a:avLst>
              <a:gd name="adj" fmla="val 11960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268" y="3479840"/>
            <a:ext cx="121920" cy="12232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20482" y="3737134"/>
            <a:ext cx="3058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</a:rPr>
              <a:t>Urlaub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280190" y="4929902"/>
            <a:ext cx="3664744" cy="1577578"/>
          </a:xfrm>
          <a:prstGeom prst="roundRect">
            <a:avLst>
              <a:gd name="adj" fmla="val 9274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710" y="4929902"/>
            <a:ext cx="121920" cy="15775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28924" y="5187196"/>
            <a:ext cx="305871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Betriebsrat</a:t>
            </a:r>
            <a:r>
              <a:rPr lang="en-US" sz="2200" dirty="0"/>
              <a:t>, JVA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8783"/>
            <a:ext cx="6857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Mitbestimmung im Betrieb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73772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87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Betriebsrat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0653" y="3362801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Betriebsrat: Interessenvertretung der Beschäftigten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15659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4291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JAV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30653" y="4781669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Jugend- und Auszubildendenvertretung (JAV)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57545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5710118"/>
            <a:ext cx="3067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Betriebsvereinbarungen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30653" y="6200537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Betriebsvereinbarungen ergänzen gesetzliche Regelungen</a:t>
            </a:r>
            <a:endParaRPr lang="en-US" sz="1750" dirty="0"/>
          </a:p>
        </p:txBody>
      </p:sp>
      <p:pic>
        <p:nvPicPr>
          <p:cNvPr id="14" name="Grafik 1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0B6D6C44-53C1-482D-34A3-2D4C24F5B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45355"/>
            <a:ext cx="5059680" cy="4484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1711"/>
            <a:ext cx="71893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 duale System – Aufbau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Ausbildungsbetrib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018609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/>
              <a:t>Praxis</a:t>
            </a:r>
          </a:p>
        </p:txBody>
      </p:sp>
      <p:sp>
        <p:nvSpPr>
          <p:cNvPr id="6" name="Text 3"/>
          <p:cNvSpPr/>
          <p:nvPr/>
        </p:nvSpPr>
        <p:spPr>
          <a:xfrm>
            <a:off x="5288161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Berufsschule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88161" y="6018609"/>
            <a:ext cx="393334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err="1"/>
              <a:t>Theorie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82532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Zuständige</a:t>
            </a:r>
            <a:r>
              <a:rPr lang="en-US" sz="2200" dirty="0"/>
              <a:t> Kammer IHK/HWK</a:t>
            </a:r>
          </a:p>
        </p:txBody>
      </p:sp>
      <p:sp>
        <p:nvSpPr>
          <p:cNvPr id="9" name="Text 6"/>
          <p:cNvSpPr/>
          <p:nvPr/>
        </p:nvSpPr>
        <p:spPr>
          <a:xfrm>
            <a:off x="9782532" y="6018609"/>
            <a:ext cx="4069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err="1"/>
              <a:t>Überwachung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0163"/>
            <a:ext cx="7318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 duale System – Vorteile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3657005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390" y="3805833"/>
            <a:ext cx="306110" cy="3826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Praxisnah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Praxisnah, direkte Anwendung im Betrieb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96" y="3657005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562" y="3805833"/>
            <a:ext cx="306110" cy="3826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Abschluss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5054679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Abschluss nach IHK/Land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568" y="365700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1734" y="3805833"/>
            <a:ext cx="306110" cy="38266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Jobchancen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Gute Jobchancen &amp; Berufsorientierung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6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Soziale Sicherung &amp; lebenslanges Lernen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Soziale Sicherung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Absicherung gegen Risiken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13089"/>
            <a:ext cx="35015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Krankenversicherung, Rentenversicherung, Arbeitslosenversicherung, Pflegeversicherung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153031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Grundlage: Sozialgesetzbuch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Lebenslanges Lernen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Kontinuierliche Weiterbildung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713089"/>
            <a:ext cx="35015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Kurse, Schulungen, Online-Lernen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472708"/>
            <a:ext cx="35015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Ziel: berufliche Flexibilität &amp; Sicherheit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Microsoft Office PowerPoint</Application>
  <PresentationFormat>Benutzerdefiniert</PresentationFormat>
  <Paragraphs>76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Host Grotesk Medium</vt:lpstr>
      <vt:lpstr>Roboto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Janine Albrecht</cp:lastModifiedBy>
  <cp:revision>3</cp:revision>
  <dcterms:created xsi:type="dcterms:W3CDTF">2025-09-15T16:47:41Z</dcterms:created>
  <dcterms:modified xsi:type="dcterms:W3CDTF">2025-09-17T08:06:33Z</dcterms:modified>
</cp:coreProperties>
</file>