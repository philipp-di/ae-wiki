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Lst>
  <p:notesMasterIdLst>
    <p:notesMasterId r:id="rId4"/>
  </p:notesMasterIdLst>
  <p:sldSz cx="14630400" cy="8229600"/>
  <p:notesSz cx="8229600" cy="14630400"/>
  <p:embeddedFontLst>
    <p:embeddedFont>
      <p:font typeface="Roboto Slab"/>
      <p:regular r:id="rId9"/>
    </p:embeddedFont>
    <p:embeddedFont>
      <p:font typeface="Roboto Slab"/>
      <p:regular r:id="rId10"/>
    </p:embeddedFont>
    <p:embeddedFont>
      <p:font typeface="Roboto"/>
      <p:regular r:id="rId11"/>
    </p:embeddedFont>
    <p:embeddedFont>
      <p:font typeface="Roboto"/>
      <p:regular r:id="rId12"/>
    </p:embeddedFont>
    <p:embeddedFont>
      <p:font typeface="Roboto"/>
      <p:regular r:id="rId13"/>
    </p:embeddedFont>
    <p:embeddedFont>
      <p:font typeface="Roboto"/>
      <p:regular r:id="rId1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font" Target="fonts/font4.fntdata"/><Relationship Id="rId13" Type="http://schemas.openxmlformats.org/officeDocument/2006/relationships/font" Target="fonts/font5.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2F2F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281" y="379333"/>
            <a:ext cx="12801719" cy="594955"/>
          </a:xfrm>
          <a:prstGeom prst="rect">
            <a:avLst/>
          </a:prstGeom>
          <a:noFill/>
          <a:ln/>
        </p:spPr>
        <p:txBody>
          <a:bodyPr wrap="none" lIns="0" tIns="0" rIns="0" bIns="0" rtlCol="0" anchor="t"/>
          <a:lstStyle/>
          <a:p>
            <a:pPr algn="ctr" indent="0" marL="0">
              <a:lnSpc>
                <a:spcPts val="4650"/>
              </a:lnSpc>
              <a:buNone/>
            </a:pPr>
            <a:r>
              <a:rPr lang="en-US" sz="3700" dirty="0">
                <a:solidFill>
                  <a:srgbClr val="3257B8"/>
                </a:solidFill>
                <a:latin typeface="Roboto Slab" pitchFamily="34" charset="0"/>
                <a:ea typeface="Roboto Slab" pitchFamily="34" charset="-122"/>
                <a:cs typeface="Roboto Slab" pitchFamily="34" charset="-120"/>
              </a:rPr>
              <a:t>Gemeinsam stark: Ihr Betriebsrat bei Innovatec Solutions</a:t>
            </a:r>
            <a:endParaRPr lang="en-US" sz="3700" dirty="0"/>
          </a:p>
        </p:txBody>
      </p:sp>
      <p:sp>
        <p:nvSpPr>
          <p:cNvPr id="3" name="Text 1"/>
          <p:cNvSpPr/>
          <p:nvPr/>
        </p:nvSpPr>
        <p:spPr>
          <a:xfrm>
            <a:off x="482798" y="1250156"/>
            <a:ext cx="13664803" cy="220742"/>
          </a:xfrm>
          <a:prstGeom prst="rect">
            <a:avLst/>
          </a:prstGeom>
          <a:noFill/>
          <a:ln/>
        </p:spPr>
        <p:txBody>
          <a:bodyPr wrap="none" lIns="0" tIns="0" rIns="0" bIns="0" rtlCol="0" anchor="t"/>
          <a:lstStyle/>
          <a:p>
            <a:pPr algn="ctr" indent="0" marL="0">
              <a:lnSpc>
                <a:spcPts val="1700"/>
              </a:lnSpc>
              <a:buNone/>
            </a:pPr>
            <a:r>
              <a:rPr lang="en-US" sz="1050" dirty="0">
                <a:solidFill>
                  <a:srgbClr val="15213F"/>
                </a:solidFill>
                <a:latin typeface="Roboto" pitchFamily="34" charset="0"/>
                <a:ea typeface="Roboto" pitchFamily="34" charset="-122"/>
                <a:cs typeface="Roboto" pitchFamily="34" charset="-120"/>
              </a:rPr>
              <a:t>Der Betriebsrat ist Ihr verlässlicher Partner in allen beruflichen Angelegenheiten. Wir setzen uns für faire Arbeitsbedingungen, Ihre Rechte und ein positives Arbeitsumfeld ein.</a:t>
            </a:r>
            <a:endParaRPr lang="en-US" sz="1050" dirty="0"/>
          </a:p>
        </p:txBody>
      </p:sp>
      <p:pic>
        <p:nvPicPr>
          <p:cNvPr id="4" name="Image 0" descr="preencoded.png">    </p:cNvPr>
          <p:cNvPicPr>
            <a:picLocks noChangeAspect="1"/>
          </p:cNvPicPr>
          <p:nvPr/>
        </p:nvPicPr>
        <p:blipFill>
          <a:blip r:embed="rId1"/>
          <a:stretch>
            <a:fillRect/>
          </a:stretch>
        </p:blipFill>
        <p:spPr>
          <a:xfrm>
            <a:off x="482798" y="1626037"/>
            <a:ext cx="6746200" cy="4169450"/>
          </a:xfrm>
          <a:prstGeom prst="rect">
            <a:avLst/>
          </a:prstGeom>
        </p:spPr>
      </p:pic>
      <p:sp>
        <p:nvSpPr>
          <p:cNvPr id="5" name="Text 2"/>
          <p:cNvSpPr/>
          <p:nvPr/>
        </p:nvSpPr>
        <p:spPr>
          <a:xfrm>
            <a:off x="482798" y="5933361"/>
            <a:ext cx="1724620" cy="215622"/>
          </a:xfrm>
          <a:prstGeom prst="rect">
            <a:avLst/>
          </a:prstGeom>
          <a:noFill/>
          <a:ln/>
        </p:spPr>
        <p:txBody>
          <a:bodyPr wrap="none" lIns="0" tIns="0" rIns="0" bIns="0" rtlCol="0" anchor="t"/>
          <a:lstStyle/>
          <a:p>
            <a:pPr algn="l" indent="0" marL="0">
              <a:lnSpc>
                <a:spcPts val="1650"/>
              </a:lnSpc>
              <a:buNone/>
            </a:pPr>
            <a:r>
              <a:rPr lang="en-US" sz="1350" dirty="0">
                <a:solidFill>
                  <a:srgbClr val="15213F"/>
                </a:solidFill>
                <a:latin typeface="Roboto Slab" pitchFamily="34" charset="0"/>
                <a:ea typeface="Roboto Slab" pitchFamily="34" charset="-122"/>
                <a:cs typeface="Roboto Slab" pitchFamily="34" charset="-120"/>
              </a:rPr>
              <a:t>Max Mustermann</a:t>
            </a:r>
            <a:endParaRPr lang="en-US" sz="1350" dirty="0"/>
          </a:p>
        </p:txBody>
      </p:sp>
      <p:sp>
        <p:nvSpPr>
          <p:cNvPr id="6" name="Text 3"/>
          <p:cNvSpPr/>
          <p:nvPr/>
        </p:nvSpPr>
        <p:spPr>
          <a:xfrm>
            <a:off x="482798" y="6231731"/>
            <a:ext cx="6746200" cy="220742"/>
          </a:xfrm>
          <a:prstGeom prst="rect">
            <a:avLst/>
          </a:prstGeom>
          <a:noFill/>
          <a:ln/>
        </p:spPr>
        <p:txBody>
          <a:bodyPr wrap="none" lIns="0" tIns="0" rIns="0" bIns="0" rtlCol="0" anchor="t"/>
          <a:lstStyle/>
          <a:p>
            <a:pPr algn="l" indent="0" marL="0">
              <a:lnSpc>
                <a:spcPts val="1700"/>
              </a:lnSpc>
              <a:buNone/>
            </a:pPr>
            <a:r>
              <a:rPr lang="en-US" sz="1050" b="1" dirty="0">
                <a:solidFill>
                  <a:srgbClr val="15213F"/>
                </a:solidFill>
                <a:latin typeface="Roboto" pitchFamily="34" charset="0"/>
                <a:ea typeface="Roboto" pitchFamily="34" charset="-122"/>
                <a:cs typeface="Roboto" pitchFamily="34" charset="-120"/>
              </a:rPr>
              <a:t>Vorsitzender des Betriebsrats</a:t>
            </a:r>
            <a:endParaRPr lang="en-US" sz="1050" dirty="0"/>
          </a:p>
        </p:txBody>
      </p:sp>
      <p:sp>
        <p:nvSpPr>
          <p:cNvPr id="7" name="Text 4"/>
          <p:cNvSpPr/>
          <p:nvPr/>
        </p:nvSpPr>
        <p:spPr>
          <a:xfrm>
            <a:off x="482798" y="6535222"/>
            <a:ext cx="6746200" cy="220742"/>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Arbeitszeiten &amp; Überstunden</a:t>
            </a:r>
            <a:endParaRPr lang="en-US" sz="1050" dirty="0"/>
          </a:p>
        </p:txBody>
      </p:sp>
      <p:sp>
        <p:nvSpPr>
          <p:cNvPr id="8" name="Text 5"/>
          <p:cNvSpPr/>
          <p:nvPr/>
        </p:nvSpPr>
        <p:spPr>
          <a:xfrm>
            <a:off x="482798" y="6804184"/>
            <a:ext cx="6746200" cy="220742"/>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Konflikte mit Vorgesetzten</a:t>
            </a:r>
            <a:endParaRPr lang="en-US" sz="1050" dirty="0"/>
          </a:p>
        </p:txBody>
      </p:sp>
      <p:sp>
        <p:nvSpPr>
          <p:cNvPr id="9" name="Text 6"/>
          <p:cNvSpPr/>
          <p:nvPr/>
        </p:nvSpPr>
        <p:spPr>
          <a:xfrm>
            <a:off x="482798" y="7073146"/>
            <a:ext cx="6746200" cy="220742"/>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Arbeitsplatzsicherheit</a:t>
            </a:r>
            <a:endParaRPr lang="en-US" sz="1050" dirty="0"/>
          </a:p>
        </p:txBody>
      </p:sp>
      <p:sp>
        <p:nvSpPr>
          <p:cNvPr id="10" name="Text 7"/>
          <p:cNvSpPr/>
          <p:nvPr/>
        </p:nvSpPr>
        <p:spPr>
          <a:xfrm>
            <a:off x="482798" y="7342108"/>
            <a:ext cx="6746200" cy="220742"/>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Betriebliche Altersvorsorge</a:t>
            </a:r>
            <a:endParaRPr lang="en-US" sz="1050" dirty="0"/>
          </a:p>
        </p:txBody>
      </p:sp>
      <p:sp>
        <p:nvSpPr>
          <p:cNvPr id="11" name="Text 8"/>
          <p:cNvSpPr/>
          <p:nvPr/>
        </p:nvSpPr>
        <p:spPr>
          <a:xfrm>
            <a:off x="482798" y="7611070"/>
            <a:ext cx="6746200" cy="220742"/>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Arbeitsvertrag &amp; Kündigung</a:t>
            </a:r>
            <a:endParaRPr lang="en-US" sz="1050" dirty="0"/>
          </a:p>
        </p:txBody>
      </p:sp>
      <p:pic>
        <p:nvPicPr>
          <p:cNvPr id="12" name="Image 1" descr="preencoded.png">    </p:cNvPr>
          <p:cNvPicPr>
            <a:picLocks noChangeAspect="1"/>
          </p:cNvPicPr>
          <p:nvPr/>
        </p:nvPicPr>
        <p:blipFill>
          <a:blip r:embed="rId2"/>
          <a:stretch>
            <a:fillRect/>
          </a:stretch>
        </p:blipFill>
        <p:spPr>
          <a:xfrm>
            <a:off x="7401401" y="1626037"/>
            <a:ext cx="6746200" cy="4169450"/>
          </a:xfrm>
          <a:prstGeom prst="rect">
            <a:avLst/>
          </a:prstGeom>
        </p:spPr>
      </p:pic>
      <p:sp>
        <p:nvSpPr>
          <p:cNvPr id="13" name="Text 9"/>
          <p:cNvSpPr/>
          <p:nvPr/>
        </p:nvSpPr>
        <p:spPr>
          <a:xfrm>
            <a:off x="7401401" y="5933361"/>
            <a:ext cx="1724620" cy="215622"/>
          </a:xfrm>
          <a:prstGeom prst="rect">
            <a:avLst/>
          </a:prstGeom>
          <a:noFill/>
          <a:ln/>
        </p:spPr>
        <p:txBody>
          <a:bodyPr wrap="none" lIns="0" tIns="0" rIns="0" bIns="0" rtlCol="0" anchor="t"/>
          <a:lstStyle/>
          <a:p>
            <a:pPr algn="l" indent="0" marL="0">
              <a:lnSpc>
                <a:spcPts val="1650"/>
              </a:lnSpc>
              <a:buNone/>
            </a:pPr>
            <a:r>
              <a:rPr lang="en-US" sz="1350" dirty="0">
                <a:solidFill>
                  <a:srgbClr val="15213F"/>
                </a:solidFill>
                <a:latin typeface="Roboto Slab" pitchFamily="34" charset="0"/>
                <a:ea typeface="Roboto Slab" pitchFamily="34" charset="-122"/>
                <a:cs typeface="Roboto Slab" pitchFamily="34" charset="-120"/>
              </a:rPr>
              <a:t>Anna Beispiel</a:t>
            </a:r>
            <a:endParaRPr lang="en-US" sz="1350" dirty="0"/>
          </a:p>
        </p:txBody>
      </p:sp>
      <p:sp>
        <p:nvSpPr>
          <p:cNvPr id="14" name="Text 10"/>
          <p:cNvSpPr/>
          <p:nvPr/>
        </p:nvSpPr>
        <p:spPr>
          <a:xfrm>
            <a:off x="7401401" y="6231731"/>
            <a:ext cx="6746200" cy="220742"/>
          </a:xfrm>
          <a:prstGeom prst="rect">
            <a:avLst/>
          </a:prstGeom>
          <a:noFill/>
          <a:ln/>
        </p:spPr>
        <p:txBody>
          <a:bodyPr wrap="none" lIns="0" tIns="0" rIns="0" bIns="0" rtlCol="0" anchor="t"/>
          <a:lstStyle/>
          <a:p>
            <a:pPr algn="l" indent="0" marL="0">
              <a:lnSpc>
                <a:spcPts val="1700"/>
              </a:lnSpc>
              <a:buNone/>
            </a:pPr>
            <a:r>
              <a:rPr lang="en-US" sz="1050" b="1" dirty="0">
                <a:solidFill>
                  <a:srgbClr val="15213F"/>
                </a:solidFill>
                <a:latin typeface="Roboto" pitchFamily="34" charset="0"/>
                <a:ea typeface="Roboto" pitchFamily="34" charset="-122"/>
                <a:cs typeface="Roboto" pitchFamily="34" charset="-120"/>
              </a:rPr>
              <a:t>Stellvertretende Vorsitzende</a:t>
            </a:r>
            <a:endParaRPr lang="en-US" sz="1050" dirty="0"/>
          </a:p>
        </p:txBody>
      </p:sp>
      <p:sp>
        <p:nvSpPr>
          <p:cNvPr id="15" name="Text 11"/>
          <p:cNvSpPr/>
          <p:nvPr/>
        </p:nvSpPr>
        <p:spPr>
          <a:xfrm>
            <a:off x="7401401" y="6535222"/>
            <a:ext cx="6746200" cy="220742"/>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Betriebliche Weiterbildung</a:t>
            </a:r>
            <a:endParaRPr lang="en-US" sz="1050" dirty="0"/>
          </a:p>
        </p:txBody>
      </p:sp>
      <p:sp>
        <p:nvSpPr>
          <p:cNvPr id="16" name="Text 12"/>
          <p:cNvSpPr/>
          <p:nvPr/>
        </p:nvSpPr>
        <p:spPr>
          <a:xfrm>
            <a:off x="7401401" y="6804184"/>
            <a:ext cx="6746200" cy="220742"/>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Gleichbehandlung &amp; Antidiskriminierung</a:t>
            </a:r>
            <a:endParaRPr lang="en-US" sz="1050" dirty="0"/>
          </a:p>
        </p:txBody>
      </p:sp>
      <p:sp>
        <p:nvSpPr>
          <p:cNvPr id="17" name="Text 13"/>
          <p:cNvSpPr/>
          <p:nvPr/>
        </p:nvSpPr>
        <p:spPr>
          <a:xfrm>
            <a:off x="7401401" y="7073146"/>
            <a:ext cx="6746200" cy="220742"/>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Urlaubsplanung</a:t>
            </a:r>
            <a:endParaRPr lang="en-US" sz="1050" dirty="0"/>
          </a:p>
        </p:txBody>
      </p:sp>
      <p:sp>
        <p:nvSpPr>
          <p:cNvPr id="18" name="Text 14"/>
          <p:cNvSpPr/>
          <p:nvPr/>
        </p:nvSpPr>
        <p:spPr>
          <a:xfrm>
            <a:off x="7401401" y="7342108"/>
            <a:ext cx="6746200" cy="220742"/>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Betriebliche Gesundheitsförderung</a:t>
            </a:r>
            <a:endParaRPr lang="en-US" sz="1050" dirty="0"/>
          </a:p>
        </p:txBody>
      </p:sp>
      <p:sp>
        <p:nvSpPr>
          <p:cNvPr id="19" name="Text 15"/>
          <p:cNvSpPr/>
          <p:nvPr/>
        </p:nvSpPr>
        <p:spPr>
          <a:xfrm>
            <a:off x="7401401" y="7611070"/>
            <a:ext cx="6746200" cy="220742"/>
          </a:xfrm>
          <a:prstGeom prst="rect">
            <a:avLst/>
          </a:prstGeom>
          <a:noFill/>
          <a:ln/>
        </p:spPr>
        <p:txBody>
          <a:bodyPr wrap="none" lIns="0" tIns="0" rIns="0" bIns="0" rtlCol="0" anchor="t"/>
          <a:lstStyle/>
          <a:p>
            <a:pPr algn="l" marL="342900" indent="-342900">
              <a:lnSpc>
                <a:spcPts val="1700"/>
              </a:lnSpc>
              <a:buSzPct val="100000"/>
              <a:buChar char="•"/>
            </a:pPr>
            <a:r>
              <a:rPr lang="en-US" sz="1050" dirty="0">
                <a:solidFill>
                  <a:srgbClr val="15213F"/>
                </a:solidFill>
                <a:latin typeface="Roboto" pitchFamily="34" charset="0"/>
                <a:ea typeface="Roboto" pitchFamily="34" charset="-122"/>
                <a:cs typeface="Roboto" pitchFamily="34" charset="-120"/>
              </a:rPr>
              <a:t>Arbeitsplatzgestaltung</a:t>
            </a:r>
            <a:endParaRPr lang="en-US" sz="1050" dirty="0"/>
          </a:p>
        </p:txBody>
      </p:sp>
      <p:sp>
        <p:nvSpPr>
          <p:cNvPr id="20" name="Text 16"/>
          <p:cNvSpPr/>
          <p:nvPr/>
        </p:nvSpPr>
        <p:spPr>
          <a:xfrm>
            <a:off x="482798" y="7986951"/>
            <a:ext cx="13664803" cy="220742"/>
          </a:xfrm>
          <a:prstGeom prst="rect">
            <a:avLst/>
          </a:prstGeom>
          <a:noFill/>
          <a:ln/>
        </p:spPr>
        <p:txBody>
          <a:bodyPr wrap="none" lIns="0" tIns="0" rIns="0" bIns="0" rtlCol="0" anchor="t"/>
          <a:lstStyle/>
          <a:p>
            <a:pPr algn="ctr" indent="0" marL="0">
              <a:lnSpc>
                <a:spcPts val="1700"/>
              </a:lnSpc>
              <a:buNone/>
            </a:pPr>
            <a:r>
              <a:rPr lang="en-US" sz="1050" dirty="0">
                <a:solidFill>
                  <a:srgbClr val="15213F"/>
                </a:solidFill>
                <a:latin typeface="Roboto" pitchFamily="34" charset="0"/>
                <a:ea typeface="Roboto" pitchFamily="34" charset="-122"/>
                <a:cs typeface="Roboto" pitchFamily="34" charset="-120"/>
              </a:rPr>
              <a:t>Ihr Betriebsrat ist jederzeit für Ihre Anliegen da. Zögern Sie nicht, uns zu kontaktieren!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1902976"/>
          </a:xfrm>
          <a:prstGeom prst="rect">
            <a:avLst/>
          </a:prstGeom>
        </p:spPr>
      </p:pic>
      <p:sp>
        <p:nvSpPr>
          <p:cNvPr id="3" name="Shape 0"/>
          <p:cNvSpPr/>
          <p:nvPr/>
        </p:nvSpPr>
        <p:spPr>
          <a:xfrm>
            <a:off x="0" y="0"/>
            <a:ext cx="14630400" cy="1902976"/>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0" y="0"/>
            <a:ext cx="14630400" cy="1902976"/>
          </a:xfrm>
          <a:prstGeom prst="rect">
            <a:avLst/>
          </a:prstGeom>
        </p:spPr>
      </p:pic>
      <p:sp>
        <p:nvSpPr>
          <p:cNvPr id="5" name="Text 1"/>
          <p:cNvSpPr/>
          <p:nvPr/>
        </p:nvSpPr>
        <p:spPr>
          <a:xfrm>
            <a:off x="532805" y="2323624"/>
            <a:ext cx="13564791" cy="1312783"/>
          </a:xfrm>
          <a:prstGeom prst="rect">
            <a:avLst/>
          </a:prstGeom>
          <a:noFill/>
          <a:ln/>
        </p:spPr>
        <p:txBody>
          <a:bodyPr wrap="square" lIns="0" tIns="0" rIns="0" bIns="0" rtlCol="0" anchor="t"/>
          <a:lstStyle/>
          <a:p>
            <a:pPr algn="ctr" indent="0" marL="0">
              <a:lnSpc>
                <a:spcPts val="5150"/>
              </a:lnSpc>
              <a:buNone/>
            </a:pPr>
            <a:r>
              <a:rPr lang="en-US" sz="4100" dirty="0">
                <a:solidFill>
                  <a:srgbClr val="000000"/>
                </a:solidFill>
                <a:latin typeface="Roboto Slab" pitchFamily="34" charset="0"/>
                <a:ea typeface="Roboto Slab" pitchFamily="34" charset="-122"/>
                <a:cs typeface="Roboto Slab" pitchFamily="34" charset="-120"/>
              </a:rPr>
              <a:t>Zukunft gestalten: Ihre Jugend- und Auszubildendenvertretung (JAV)</a:t>
            </a:r>
            <a:endParaRPr lang="en-US" sz="4100" dirty="0"/>
          </a:p>
        </p:txBody>
      </p:sp>
      <p:sp>
        <p:nvSpPr>
          <p:cNvPr id="6" name="Text 2"/>
          <p:cNvSpPr/>
          <p:nvPr/>
        </p:nvSpPr>
        <p:spPr>
          <a:xfrm>
            <a:off x="532805" y="3864650"/>
            <a:ext cx="13564791" cy="487204"/>
          </a:xfrm>
          <a:prstGeom prst="rect">
            <a:avLst/>
          </a:prstGeom>
          <a:noFill/>
          <a:ln/>
        </p:spPr>
        <p:txBody>
          <a:bodyPr wrap="square" lIns="0" tIns="0" rIns="0" bIns="0" rtlCol="0" anchor="t"/>
          <a:lstStyle/>
          <a:p>
            <a:pPr algn="ctr" indent="0" marL="0">
              <a:lnSpc>
                <a:spcPts val="1900"/>
              </a:lnSpc>
              <a:buNone/>
            </a:pPr>
            <a:r>
              <a:rPr lang="en-US" sz="1150" dirty="0">
                <a:solidFill>
                  <a:srgbClr val="15213F"/>
                </a:solidFill>
                <a:latin typeface="Roboto" pitchFamily="34" charset="0"/>
                <a:ea typeface="Roboto" pitchFamily="34" charset="-122"/>
                <a:cs typeface="Roboto" pitchFamily="34" charset="-120"/>
              </a:rPr>
              <a:t>Die JAV ist die starke Stimme der Auszubildenden und jungen Mitarbeitenden bei Innovatec Solutions. Wir begleiten euch durch eure Ausbildung, sorgen für optimale Lernbedingungen und stehen euch bei allen Fragen und Herausforderungen zur Seite.</a:t>
            </a:r>
            <a:endParaRPr lang="en-US" sz="1150" dirty="0"/>
          </a:p>
        </p:txBody>
      </p:sp>
      <p:sp>
        <p:nvSpPr>
          <p:cNvPr id="7" name="Shape 3"/>
          <p:cNvSpPr/>
          <p:nvPr/>
        </p:nvSpPr>
        <p:spPr>
          <a:xfrm>
            <a:off x="532805" y="4751308"/>
            <a:ext cx="6706314" cy="2642830"/>
          </a:xfrm>
          <a:prstGeom prst="roundRect">
            <a:avLst>
              <a:gd name="adj" fmla="val 2768"/>
            </a:avLst>
          </a:prstGeom>
          <a:solidFill>
            <a:srgbClr val="F2F2F2"/>
          </a:solidFill>
          <a:ln/>
        </p:spPr>
      </p:sp>
      <p:sp>
        <p:nvSpPr>
          <p:cNvPr id="8" name="Shape 4"/>
          <p:cNvSpPr/>
          <p:nvPr/>
        </p:nvSpPr>
        <p:spPr>
          <a:xfrm>
            <a:off x="532805" y="4736068"/>
            <a:ext cx="6706314" cy="60960"/>
          </a:xfrm>
          <a:prstGeom prst="roundRect">
            <a:avLst>
              <a:gd name="adj" fmla="val 37460"/>
            </a:avLst>
          </a:prstGeom>
          <a:solidFill>
            <a:srgbClr val="3257B8"/>
          </a:solidFill>
          <a:ln/>
        </p:spPr>
      </p:sp>
      <p:sp>
        <p:nvSpPr>
          <p:cNvPr id="9" name="Shape 5"/>
          <p:cNvSpPr/>
          <p:nvPr/>
        </p:nvSpPr>
        <p:spPr>
          <a:xfrm>
            <a:off x="3657660" y="4523065"/>
            <a:ext cx="456605" cy="456605"/>
          </a:xfrm>
          <a:prstGeom prst="roundRect">
            <a:avLst>
              <a:gd name="adj" fmla="val 200261"/>
            </a:avLst>
          </a:prstGeom>
          <a:solidFill>
            <a:srgbClr val="3257B8"/>
          </a:solidFill>
          <a:ln/>
        </p:spPr>
      </p:sp>
      <p:pic>
        <p:nvPicPr>
          <p:cNvPr id="10" name="Image 2" descr="preencoded.png">    </p:cNvPr>
          <p:cNvPicPr>
            <a:picLocks noChangeAspect="1"/>
          </p:cNvPicPr>
          <p:nvPr/>
        </p:nvPicPr>
        <p:blipFill>
          <a:blip r:embed="rId3"/>
          <a:stretch>
            <a:fillRect/>
          </a:stretch>
        </p:blipFill>
        <p:spPr>
          <a:xfrm>
            <a:off x="3794581" y="4637246"/>
            <a:ext cx="182642" cy="228243"/>
          </a:xfrm>
          <a:prstGeom prst="rect">
            <a:avLst/>
          </a:prstGeom>
        </p:spPr>
      </p:pic>
      <p:sp>
        <p:nvSpPr>
          <p:cNvPr id="11" name="Text 6"/>
          <p:cNvSpPr/>
          <p:nvPr/>
        </p:nvSpPr>
        <p:spPr>
          <a:xfrm>
            <a:off x="700207" y="5131832"/>
            <a:ext cx="1902976" cy="237768"/>
          </a:xfrm>
          <a:prstGeom prst="rect">
            <a:avLst/>
          </a:prstGeom>
          <a:noFill/>
          <a:ln/>
        </p:spPr>
        <p:txBody>
          <a:bodyPr wrap="none" lIns="0" tIns="0" rIns="0" bIns="0" rtlCol="0" anchor="t"/>
          <a:lstStyle/>
          <a:p>
            <a:pPr algn="l" indent="0" marL="0">
              <a:lnSpc>
                <a:spcPts val="1850"/>
              </a:lnSpc>
              <a:buNone/>
            </a:pPr>
            <a:r>
              <a:rPr lang="en-US" sz="1450" dirty="0">
                <a:solidFill>
                  <a:srgbClr val="15213F"/>
                </a:solidFill>
                <a:latin typeface="Roboto Slab" pitchFamily="34" charset="0"/>
                <a:ea typeface="Roboto Slab" pitchFamily="34" charset="-122"/>
                <a:cs typeface="Roboto Slab" pitchFamily="34" charset="-120"/>
              </a:rPr>
              <a:t>Julia Azubi</a:t>
            </a:r>
            <a:endParaRPr lang="en-US" sz="1450" dirty="0"/>
          </a:p>
        </p:txBody>
      </p:sp>
      <p:sp>
        <p:nvSpPr>
          <p:cNvPr id="12" name="Text 7"/>
          <p:cNvSpPr/>
          <p:nvPr/>
        </p:nvSpPr>
        <p:spPr>
          <a:xfrm>
            <a:off x="700207" y="5460921"/>
            <a:ext cx="6371511" cy="243602"/>
          </a:xfrm>
          <a:prstGeom prst="rect">
            <a:avLst/>
          </a:prstGeom>
          <a:noFill/>
          <a:ln/>
        </p:spPr>
        <p:txBody>
          <a:bodyPr wrap="none" lIns="0" tIns="0" rIns="0" bIns="0" rtlCol="0" anchor="t"/>
          <a:lstStyle/>
          <a:p>
            <a:pPr algn="l" indent="0" marL="0">
              <a:lnSpc>
                <a:spcPts val="1900"/>
              </a:lnSpc>
              <a:buNone/>
            </a:pPr>
            <a:r>
              <a:rPr lang="en-US" sz="1150" b="1" dirty="0">
                <a:solidFill>
                  <a:srgbClr val="15213F"/>
                </a:solidFill>
                <a:latin typeface="Roboto" pitchFamily="34" charset="0"/>
                <a:ea typeface="Roboto" pitchFamily="34" charset="-122"/>
                <a:cs typeface="Roboto" pitchFamily="34" charset="-120"/>
              </a:rPr>
              <a:t>Vorsitzende der JAV</a:t>
            </a:r>
            <a:endParaRPr lang="en-US" sz="1150" dirty="0"/>
          </a:p>
        </p:txBody>
      </p:sp>
      <p:sp>
        <p:nvSpPr>
          <p:cNvPr id="13" name="Text 8"/>
          <p:cNvSpPr/>
          <p:nvPr/>
        </p:nvSpPr>
        <p:spPr>
          <a:xfrm>
            <a:off x="700207" y="5795843"/>
            <a:ext cx="6371511" cy="243602"/>
          </a:xfrm>
          <a:prstGeom prst="rect">
            <a:avLst/>
          </a:prstGeom>
          <a:noFill/>
          <a:ln/>
        </p:spPr>
        <p:txBody>
          <a:bodyPr wrap="none" lIns="0" tIns="0" rIns="0" bIns="0" rtlCol="0" anchor="t"/>
          <a:lstStyle/>
          <a:p>
            <a:pPr algn="l" marL="342900" indent="-342900">
              <a:lnSpc>
                <a:spcPts val="1900"/>
              </a:lnSpc>
              <a:buSzPct val="100000"/>
              <a:buChar char="•"/>
            </a:pPr>
            <a:r>
              <a:rPr lang="en-US" sz="1150" dirty="0">
                <a:solidFill>
                  <a:srgbClr val="15213F"/>
                </a:solidFill>
                <a:latin typeface="Roboto" pitchFamily="34" charset="0"/>
                <a:ea typeface="Roboto" pitchFamily="34" charset="-122"/>
                <a:cs typeface="Roboto" pitchFamily="34" charset="-120"/>
              </a:rPr>
              <a:t>Ausbildungsplan &amp; -ablauf</a:t>
            </a:r>
            <a:endParaRPr lang="en-US" sz="1150" dirty="0"/>
          </a:p>
        </p:txBody>
      </p:sp>
      <p:sp>
        <p:nvSpPr>
          <p:cNvPr id="14" name="Text 9"/>
          <p:cNvSpPr/>
          <p:nvPr/>
        </p:nvSpPr>
        <p:spPr>
          <a:xfrm>
            <a:off x="700207" y="6092666"/>
            <a:ext cx="6371511" cy="243602"/>
          </a:xfrm>
          <a:prstGeom prst="rect">
            <a:avLst/>
          </a:prstGeom>
          <a:noFill/>
          <a:ln/>
        </p:spPr>
        <p:txBody>
          <a:bodyPr wrap="none" lIns="0" tIns="0" rIns="0" bIns="0" rtlCol="0" anchor="t"/>
          <a:lstStyle/>
          <a:p>
            <a:pPr algn="l" marL="342900" indent="-342900">
              <a:lnSpc>
                <a:spcPts val="1900"/>
              </a:lnSpc>
              <a:buSzPct val="100000"/>
              <a:buChar char="•"/>
            </a:pPr>
            <a:r>
              <a:rPr lang="en-US" sz="1150" dirty="0">
                <a:solidFill>
                  <a:srgbClr val="15213F"/>
                </a:solidFill>
                <a:latin typeface="Roboto" pitchFamily="34" charset="0"/>
                <a:ea typeface="Roboto" pitchFamily="34" charset="-122"/>
                <a:cs typeface="Roboto" pitchFamily="34" charset="-120"/>
              </a:rPr>
              <a:t>Probleme mit Ausbilder</a:t>
            </a:r>
            <a:endParaRPr lang="en-US" sz="1150" dirty="0"/>
          </a:p>
        </p:txBody>
      </p:sp>
      <p:sp>
        <p:nvSpPr>
          <p:cNvPr id="15" name="Text 10"/>
          <p:cNvSpPr/>
          <p:nvPr/>
        </p:nvSpPr>
        <p:spPr>
          <a:xfrm>
            <a:off x="700207" y="6389489"/>
            <a:ext cx="6371511" cy="243602"/>
          </a:xfrm>
          <a:prstGeom prst="rect">
            <a:avLst/>
          </a:prstGeom>
          <a:noFill/>
          <a:ln/>
        </p:spPr>
        <p:txBody>
          <a:bodyPr wrap="none" lIns="0" tIns="0" rIns="0" bIns="0" rtlCol="0" anchor="t"/>
          <a:lstStyle/>
          <a:p>
            <a:pPr algn="l" marL="342900" indent="-342900">
              <a:lnSpc>
                <a:spcPts val="1900"/>
              </a:lnSpc>
              <a:buSzPct val="100000"/>
              <a:buChar char="•"/>
            </a:pPr>
            <a:r>
              <a:rPr lang="en-US" sz="1150" dirty="0">
                <a:solidFill>
                  <a:srgbClr val="15213F"/>
                </a:solidFill>
                <a:latin typeface="Roboto" pitchFamily="34" charset="0"/>
                <a:ea typeface="Roboto" pitchFamily="34" charset="-122"/>
                <a:cs typeface="Roboto" pitchFamily="34" charset="-120"/>
              </a:rPr>
              <a:t>Berufsschule &amp; Fehlzeiten</a:t>
            </a:r>
            <a:endParaRPr lang="en-US" sz="1150" dirty="0"/>
          </a:p>
        </p:txBody>
      </p:sp>
      <p:sp>
        <p:nvSpPr>
          <p:cNvPr id="16" name="Text 11"/>
          <p:cNvSpPr/>
          <p:nvPr/>
        </p:nvSpPr>
        <p:spPr>
          <a:xfrm>
            <a:off x="700207" y="6686312"/>
            <a:ext cx="6371511" cy="243602"/>
          </a:xfrm>
          <a:prstGeom prst="rect">
            <a:avLst/>
          </a:prstGeom>
          <a:noFill/>
          <a:ln/>
        </p:spPr>
        <p:txBody>
          <a:bodyPr wrap="none" lIns="0" tIns="0" rIns="0" bIns="0" rtlCol="0" anchor="t"/>
          <a:lstStyle/>
          <a:p>
            <a:pPr algn="l" marL="342900" indent="-342900">
              <a:lnSpc>
                <a:spcPts val="1900"/>
              </a:lnSpc>
              <a:buSzPct val="100000"/>
              <a:buChar char="•"/>
            </a:pPr>
            <a:r>
              <a:rPr lang="en-US" sz="1150" dirty="0">
                <a:solidFill>
                  <a:srgbClr val="15213F"/>
                </a:solidFill>
                <a:latin typeface="Roboto" pitchFamily="34" charset="0"/>
                <a:ea typeface="Roboto" pitchFamily="34" charset="-122"/>
                <a:cs typeface="Roboto" pitchFamily="34" charset="-120"/>
              </a:rPr>
              <a:t>Prüfungen &amp; Leistungsbeurteilungen</a:t>
            </a:r>
            <a:endParaRPr lang="en-US" sz="1150" dirty="0"/>
          </a:p>
        </p:txBody>
      </p:sp>
      <p:sp>
        <p:nvSpPr>
          <p:cNvPr id="17" name="Text 12"/>
          <p:cNvSpPr/>
          <p:nvPr/>
        </p:nvSpPr>
        <p:spPr>
          <a:xfrm>
            <a:off x="700207" y="6983135"/>
            <a:ext cx="6371511" cy="243602"/>
          </a:xfrm>
          <a:prstGeom prst="rect">
            <a:avLst/>
          </a:prstGeom>
          <a:noFill/>
          <a:ln/>
        </p:spPr>
        <p:txBody>
          <a:bodyPr wrap="none" lIns="0" tIns="0" rIns="0" bIns="0" rtlCol="0" anchor="t"/>
          <a:lstStyle/>
          <a:p>
            <a:pPr algn="l" marL="342900" indent="-342900">
              <a:lnSpc>
                <a:spcPts val="1900"/>
              </a:lnSpc>
              <a:buSzPct val="100000"/>
              <a:buChar char="•"/>
            </a:pPr>
            <a:r>
              <a:rPr lang="en-US" sz="1150" dirty="0">
                <a:solidFill>
                  <a:srgbClr val="15213F"/>
                </a:solidFill>
                <a:latin typeface="Roboto" pitchFamily="34" charset="0"/>
                <a:ea typeface="Roboto" pitchFamily="34" charset="-122"/>
                <a:cs typeface="Roboto" pitchFamily="34" charset="-120"/>
              </a:rPr>
              <a:t>Arbeitszeitgestaltung</a:t>
            </a:r>
            <a:endParaRPr lang="en-US" sz="1150" dirty="0"/>
          </a:p>
        </p:txBody>
      </p:sp>
      <p:sp>
        <p:nvSpPr>
          <p:cNvPr id="18" name="Shape 13"/>
          <p:cNvSpPr/>
          <p:nvPr/>
        </p:nvSpPr>
        <p:spPr>
          <a:xfrm>
            <a:off x="7391281" y="4751308"/>
            <a:ext cx="6706314" cy="2642830"/>
          </a:xfrm>
          <a:prstGeom prst="roundRect">
            <a:avLst>
              <a:gd name="adj" fmla="val 2768"/>
            </a:avLst>
          </a:prstGeom>
          <a:solidFill>
            <a:srgbClr val="F2F2F2"/>
          </a:solidFill>
          <a:ln/>
        </p:spPr>
      </p:sp>
      <p:sp>
        <p:nvSpPr>
          <p:cNvPr id="19" name="Shape 14"/>
          <p:cNvSpPr/>
          <p:nvPr/>
        </p:nvSpPr>
        <p:spPr>
          <a:xfrm>
            <a:off x="7391281" y="4736068"/>
            <a:ext cx="6706314" cy="60960"/>
          </a:xfrm>
          <a:prstGeom prst="roundRect">
            <a:avLst>
              <a:gd name="adj" fmla="val 37460"/>
            </a:avLst>
          </a:prstGeom>
          <a:solidFill>
            <a:srgbClr val="3257B8"/>
          </a:solidFill>
          <a:ln/>
        </p:spPr>
      </p:sp>
      <p:sp>
        <p:nvSpPr>
          <p:cNvPr id="20" name="Shape 15"/>
          <p:cNvSpPr/>
          <p:nvPr/>
        </p:nvSpPr>
        <p:spPr>
          <a:xfrm>
            <a:off x="10516136" y="4523065"/>
            <a:ext cx="456605" cy="456605"/>
          </a:xfrm>
          <a:prstGeom prst="roundRect">
            <a:avLst>
              <a:gd name="adj" fmla="val 200261"/>
            </a:avLst>
          </a:prstGeom>
          <a:solidFill>
            <a:srgbClr val="3257B8"/>
          </a:solidFill>
          <a:ln/>
        </p:spPr>
      </p:sp>
      <p:pic>
        <p:nvPicPr>
          <p:cNvPr id="21" name="Image 3" descr="preencoded.png">    </p:cNvPr>
          <p:cNvPicPr>
            <a:picLocks noChangeAspect="1"/>
          </p:cNvPicPr>
          <p:nvPr/>
        </p:nvPicPr>
        <p:blipFill>
          <a:blip r:embed="rId4"/>
          <a:stretch>
            <a:fillRect/>
          </a:stretch>
        </p:blipFill>
        <p:spPr>
          <a:xfrm>
            <a:off x="10653058" y="4637246"/>
            <a:ext cx="182642" cy="228243"/>
          </a:xfrm>
          <a:prstGeom prst="rect">
            <a:avLst/>
          </a:prstGeom>
        </p:spPr>
      </p:pic>
      <p:sp>
        <p:nvSpPr>
          <p:cNvPr id="22" name="Text 16"/>
          <p:cNvSpPr/>
          <p:nvPr/>
        </p:nvSpPr>
        <p:spPr>
          <a:xfrm>
            <a:off x="7558683" y="5131832"/>
            <a:ext cx="1902976" cy="237768"/>
          </a:xfrm>
          <a:prstGeom prst="rect">
            <a:avLst/>
          </a:prstGeom>
          <a:noFill/>
          <a:ln/>
        </p:spPr>
        <p:txBody>
          <a:bodyPr wrap="none" lIns="0" tIns="0" rIns="0" bIns="0" rtlCol="0" anchor="t"/>
          <a:lstStyle/>
          <a:p>
            <a:pPr algn="l" indent="0" marL="0">
              <a:lnSpc>
                <a:spcPts val="1850"/>
              </a:lnSpc>
              <a:buNone/>
            </a:pPr>
            <a:r>
              <a:rPr lang="en-US" sz="1450" dirty="0">
                <a:solidFill>
                  <a:srgbClr val="15213F"/>
                </a:solidFill>
                <a:latin typeface="Roboto Slab" pitchFamily="34" charset="0"/>
                <a:ea typeface="Roboto Slab" pitchFamily="34" charset="-122"/>
                <a:cs typeface="Roboto Slab" pitchFamily="34" charset="-120"/>
              </a:rPr>
              <a:t>Tim Lehrling</a:t>
            </a:r>
            <a:endParaRPr lang="en-US" sz="1450" dirty="0"/>
          </a:p>
        </p:txBody>
      </p:sp>
      <p:sp>
        <p:nvSpPr>
          <p:cNvPr id="23" name="Text 17"/>
          <p:cNvSpPr/>
          <p:nvPr/>
        </p:nvSpPr>
        <p:spPr>
          <a:xfrm>
            <a:off x="7558683" y="5460921"/>
            <a:ext cx="6371511" cy="243602"/>
          </a:xfrm>
          <a:prstGeom prst="rect">
            <a:avLst/>
          </a:prstGeom>
          <a:noFill/>
          <a:ln/>
        </p:spPr>
        <p:txBody>
          <a:bodyPr wrap="none" lIns="0" tIns="0" rIns="0" bIns="0" rtlCol="0" anchor="t"/>
          <a:lstStyle/>
          <a:p>
            <a:pPr algn="l" indent="0" marL="0">
              <a:lnSpc>
                <a:spcPts val="1900"/>
              </a:lnSpc>
              <a:buNone/>
            </a:pPr>
            <a:r>
              <a:rPr lang="en-US" sz="1150" b="1" dirty="0">
                <a:solidFill>
                  <a:srgbClr val="15213F"/>
                </a:solidFill>
                <a:latin typeface="Roboto" pitchFamily="34" charset="0"/>
                <a:ea typeface="Roboto" pitchFamily="34" charset="-122"/>
                <a:cs typeface="Roboto" pitchFamily="34" charset="-120"/>
              </a:rPr>
              <a:t>Stellvertretender Vorsitzender</a:t>
            </a:r>
            <a:endParaRPr lang="en-US" sz="1150" dirty="0"/>
          </a:p>
        </p:txBody>
      </p:sp>
      <p:sp>
        <p:nvSpPr>
          <p:cNvPr id="24" name="Text 18"/>
          <p:cNvSpPr/>
          <p:nvPr/>
        </p:nvSpPr>
        <p:spPr>
          <a:xfrm>
            <a:off x="7558683" y="5795843"/>
            <a:ext cx="6371511" cy="243602"/>
          </a:xfrm>
          <a:prstGeom prst="rect">
            <a:avLst/>
          </a:prstGeom>
          <a:noFill/>
          <a:ln/>
        </p:spPr>
        <p:txBody>
          <a:bodyPr wrap="none" lIns="0" tIns="0" rIns="0" bIns="0" rtlCol="0" anchor="t"/>
          <a:lstStyle/>
          <a:p>
            <a:pPr algn="l" marL="342900" indent="-342900">
              <a:lnSpc>
                <a:spcPts val="1900"/>
              </a:lnSpc>
              <a:buSzPct val="100000"/>
              <a:buChar char="•"/>
            </a:pPr>
            <a:r>
              <a:rPr lang="en-US" sz="1150" dirty="0">
                <a:solidFill>
                  <a:srgbClr val="15213F"/>
                </a:solidFill>
                <a:latin typeface="Roboto" pitchFamily="34" charset="0"/>
                <a:ea typeface="Roboto" pitchFamily="34" charset="-122"/>
                <a:cs typeface="Roboto" pitchFamily="34" charset="-120"/>
              </a:rPr>
              <a:t>Ausbildungsvergütung</a:t>
            </a:r>
            <a:endParaRPr lang="en-US" sz="1150" dirty="0"/>
          </a:p>
        </p:txBody>
      </p:sp>
      <p:sp>
        <p:nvSpPr>
          <p:cNvPr id="25" name="Text 19"/>
          <p:cNvSpPr/>
          <p:nvPr/>
        </p:nvSpPr>
        <p:spPr>
          <a:xfrm>
            <a:off x="7558683" y="6092666"/>
            <a:ext cx="6371511" cy="243602"/>
          </a:xfrm>
          <a:prstGeom prst="rect">
            <a:avLst/>
          </a:prstGeom>
          <a:noFill/>
          <a:ln/>
        </p:spPr>
        <p:txBody>
          <a:bodyPr wrap="none" lIns="0" tIns="0" rIns="0" bIns="0" rtlCol="0" anchor="t"/>
          <a:lstStyle/>
          <a:p>
            <a:pPr algn="l" marL="342900" indent="-342900">
              <a:lnSpc>
                <a:spcPts val="1900"/>
              </a:lnSpc>
              <a:buSzPct val="100000"/>
              <a:buChar char="•"/>
            </a:pPr>
            <a:r>
              <a:rPr lang="en-US" sz="1150" dirty="0">
                <a:solidFill>
                  <a:srgbClr val="15213F"/>
                </a:solidFill>
                <a:latin typeface="Roboto" pitchFamily="34" charset="0"/>
                <a:ea typeface="Roboto" pitchFamily="34" charset="-122"/>
                <a:cs typeface="Roboto" pitchFamily="34" charset="-120"/>
              </a:rPr>
              <a:t>Integration im Betrieb</a:t>
            </a:r>
            <a:endParaRPr lang="en-US" sz="1150" dirty="0"/>
          </a:p>
        </p:txBody>
      </p:sp>
      <p:sp>
        <p:nvSpPr>
          <p:cNvPr id="26" name="Text 20"/>
          <p:cNvSpPr/>
          <p:nvPr/>
        </p:nvSpPr>
        <p:spPr>
          <a:xfrm>
            <a:off x="7558683" y="6389489"/>
            <a:ext cx="6371511" cy="243602"/>
          </a:xfrm>
          <a:prstGeom prst="rect">
            <a:avLst/>
          </a:prstGeom>
          <a:noFill/>
          <a:ln/>
        </p:spPr>
        <p:txBody>
          <a:bodyPr wrap="none" lIns="0" tIns="0" rIns="0" bIns="0" rtlCol="0" anchor="t"/>
          <a:lstStyle/>
          <a:p>
            <a:pPr algn="l" marL="342900" indent="-342900">
              <a:lnSpc>
                <a:spcPts val="1900"/>
              </a:lnSpc>
              <a:buSzPct val="100000"/>
              <a:buChar char="•"/>
            </a:pPr>
            <a:r>
              <a:rPr lang="en-US" sz="1150" dirty="0">
                <a:solidFill>
                  <a:srgbClr val="15213F"/>
                </a:solidFill>
                <a:latin typeface="Roboto" pitchFamily="34" charset="0"/>
                <a:ea typeface="Roboto" pitchFamily="34" charset="-122"/>
                <a:cs typeface="Roboto" pitchFamily="34" charset="-120"/>
              </a:rPr>
              <a:t>Arbeitskleidung &amp; -materialien</a:t>
            </a:r>
            <a:endParaRPr lang="en-US" sz="1150" dirty="0"/>
          </a:p>
        </p:txBody>
      </p:sp>
      <p:sp>
        <p:nvSpPr>
          <p:cNvPr id="27" name="Text 21"/>
          <p:cNvSpPr/>
          <p:nvPr/>
        </p:nvSpPr>
        <p:spPr>
          <a:xfrm>
            <a:off x="7558683" y="6686312"/>
            <a:ext cx="6371511" cy="243602"/>
          </a:xfrm>
          <a:prstGeom prst="rect">
            <a:avLst/>
          </a:prstGeom>
          <a:noFill/>
          <a:ln/>
        </p:spPr>
        <p:txBody>
          <a:bodyPr wrap="none" lIns="0" tIns="0" rIns="0" bIns="0" rtlCol="0" anchor="t"/>
          <a:lstStyle/>
          <a:p>
            <a:pPr algn="l" marL="342900" indent="-342900">
              <a:lnSpc>
                <a:spcPts val="1900"/>
              </a:lnSpc>
              <a:buSzPct val="100000"/>
              <a:buChar char="•"/>
            </a:pPr>
            <a:r>
              <a:rPr lang="en-US" sz="1150" dirty="0">
                <a:solidFill>
                  <a:srgbClr val="15213F"/>
                </a:solidFill>
                <a:latin typeface="Roboto" pitchFamily="34" charset="0"/>
                <a:ea typeface="Roboto" pitchFamily="34" charset="-122"/>
                <a:cs typeface="Roboto" pitchFamily="34" charset="-120"/>
              </a:rPr>
              <a:t>Urlaubsplanung Azubi</a:t>
            </a:r>
            <a:endParaRPr lang="en-US" sz="1150" dirty="0"/>
          </a:p>
        </p:txBody>
      </p:sp>
      <p:sp>
        <p:nvSpPr>
          <p:cNvPr id="28" name="Text 22"/>
          <p:cNvSpPr/>
          <p:nvPr/>
        </p:nvSpPr>
        <p:spPr>
          <a:xfrm>
            <a:off x="7558683" y="6983135"/>
            <a:ext cx="6371511" cy="243602"/>
          </a:xfrm>
          <a:prstGeom prst="rect">
            <a:avLst/>
          </a:prstGeom>
          <a:noFill/>
          <a:ln/>
        </p:spPr>
        <p:txBody>
          <a:bodyPr wrap="none" lIns="0" tIns="0" rIns="0" bIns="0" rtlCol="0" anchor="t"/>
          <a:lstStyle/>
          <a:p>
            <a:pPr algn="l" marL="342900" indent="-342900">
              <a:lnSpc>
                <a:spcPts val="1900"/>
              </a:lnSpc>
              <a:buSzPct val="100000"/>
              <a:buChar char="•"/>
            </a:pPr>
            <a:r>
              <a:rPr lang="en-US" sz="1150" dirty="0">
                <a:solidFill>
                  <a:srgbClr val="15213F"/>
                </a:solidFill>
                <a:latin typeface="Roboto" pitchFamily="34" charset="0"/>
                <a:ea typeface="Roboto" pitchFamily="34" charset="-122"/>
                <a:cs typeface="Roboto" pitchFamily="34" charset="-120"/>
              </a:rPr>
              <a:t>Gesundheitsförderung Azubi</a:t>
            </a:r>
            <a:endParaRPr lang="en-US" sz="1150" dirty="0"/>
          </a:p>
        </p:txBody>
      </p:sp>
      <p:sp>
        <p:nvSpPr>
          <p:cNvPr id="29" name="Text 23"/>
          <p:cNvSpPr/>
          <p:nvPr/>
        </p:nvSpPr>
        <p:spPr>
          <a:xfrm>
            <a:off x="532805" y="7565350"/>
            <a:ext cx="13564791" cy="243602"/>
          </a:xfrm>
          <a:prstGeom prst="rect">
            <a:avLst/>
          </a:prstGeom>
          <a:noFill/>
          <a:ln/>
        </p:spPr>
        <p:txBody>
          <a:bodyPr wrap="none" lIns="0" tIns="0" rIns="0" bIns="0" rtlCol="0" anchor="t"/>
          <a:lstStyle/>
          <a:p>
            <a:pPr algn="ctr" indent="0" marL="0">
              <a:lnSpc>
                <a:spcPts val="1900"/>
              </a:lnSpc>
              <a:buNone/>
            </a:pPr>
            <a:r>
              <a:rPr lang="en-US" sz="1150" dirty="0">
                <a:solidFill>
                  <a:srgbClr val="15213F"/>
                </a:solidFill>
                <a:latin typeface="Roboto" pitchFamily="34" charset="0"/>
                <a:ea typeface="Roboto" pitchFamily="34" charset="-122"/>
                <a:cs typeface="Roboto" pitchFamily="34" charset="-120"/>
              </a:rPr>
              <a:t>Wir sind für euch da, um eure Ausbildung optimal zu gestalten und eure Interessen im Unternehmen zu vertreten!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2025-09-11T13:14:04Z</dcterms:created>
  <dcterms:modified xsi:type="dcterms:W3CDTF">2025-09-11T13:14:04Z</dcterms:modified>
</cp:coreProperties>
</file>